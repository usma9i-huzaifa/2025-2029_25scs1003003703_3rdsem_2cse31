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0" y="0"/>
            <a:ext cx="5562295" cy="6858000"/>
          </a:xfrm>
          <a:prstGeom prst="rect">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502920" y="347472"/>
            <a:ext cx="594360" cy="633582"/>
          </a:xfrm>
          <a:prstGeom prst="rect">
            <a:avLst/>
          </a:prstGeom>
        </p:spPr>
      </p:pic>
      <p:sp>
        <p:nvSpPr>
          <p:cNvPr id="5" name="TextBox 4"/>
          <p:cNvSpPr txBox="1"/>
          <p:nvPr/>
        </p:nvSpPr>
        <p:spPr>
          <a:xfrm>
            <a:off x="1170432" y="393192"/>
            <a:ext cx="2743200" cy="274320"/>
          </a:xfrm>
          <a:prstGeom prst="rect">
            <a:avLst/>
          </a:prstGeom>
          <a:noFill/>
        </p:spPr>
        <p:txBody>
          <a:bodyPr wrap="square" lIns="18288" rIns="18288" tIns="18288" bIns="18288" anchor="t">
            <a:spAutoFit/>
          </a:bodyPr>
          <a:lstStyle/>
          <a:p>
            <a:pPr algn="l"/>
            <a:r>
              <a:rPr sz="1300" b="1">
                <a:solidFill>
                  <a:srgbClr val="141F38"/>
                </a:solidFill>
                <a:latin typeface="Aptos"/>
              </a:rPr>
              <a:t>IILM UNIVERSITY</a:t>
            </a:r>
          </a:p>
        </p:txBody>
      </p:sp>
      <p:sp>
        <p:nvSpPr>
          <p:cNvPr id="6" name="TextBox 5"/>
          <p:cNvSpPr txBox="1"/>
          <p:nvPr/>
        </p:nvSpPr>
        <p:spPr>
          <a:xfrm>
            <a:off x="1170432" y="658368"/>
            <a:ext cx="2926080" cy="228600"/>
          </a:xfrm>
          <a:prstGeom prst="rect">
            <a:avLst/>
          </a:prstGeom>
          <a:noFill/>
        </p:spPr>
        <p:txBody>
          <a:bodyPr wrap="square" lIns="18288" rIns="18288" tIns="18288" bIns="18288" anchor="t">
            <a:spAutoFit/>
          </a:bodyPr>
          <a:lstStyle/>
          <a:p>
            <a:pPr algn="l"/>
            <a:r>
              <a:rPr sz="800" b="0">
                <a:solidFill>
                  <a:srgbClr val="485770"/>
                </a:solidFill>
                <a:latin typeface="Aptos"/>
              </a:rPr>
              <a:t>GREATER NOIDA, UTTAR PRADESH</a:t>
            </a:r>
          </a:p>
        </p:txBody>
      </p:sp>
      <p:sp>
        <p:nvSpPr>
          <p:cNvPr id="7" name="TextBox 6"/>
          <p:cNvSpPr txBox="1"/>
          <p:nvPr/>
        </p:nvSpPr>
        <p:spPr>
          <a:xfrm>
            <a:off x="566928" y="1508760"/>
            <a:ext cx="5577840" cy="1417320"/>
          </a:xfrm>
          <a:prstGeom prst="rect">
            <a:avLst/>
          </a:prstGeom>
          <a:noFill/>
        </p:spPr>
        <p:txBody>
          <a:bodyPr wrap="square" lIns="18288" rIns="18288" tIns="18288" bIns="18288" anchor="t">
            <a:spAutoFit/>
          </a:bodyPr>
          <a:lstStyle/>
          <a:p>
            <a:pPr algn="l"/>
            <a:r>
              <a:rPr sz="2700" b="1">
                <a:solidFill>
                  <a:srgbClr val="0F172A"/>
                </a:solidFill>
                <a:latin typeface="Aptos"/>
              </a:rPr>
              <a:t>SOCIAL WELFARE &amp;</a:t>
            </a:r>
            <a:br/>
            <a:r>
              <a:t>COMMUNITY SUPPORT</a:t>
            </a:r>
            <a:br/>
            <a:r>
              <a:t>ENGAGEMENT</a:t>
            </a:r>
          </a:p>
        </p:txBody>
      </p:sp>
      <p:sp>
        <p:nvSpPr>
          <p:cNvPr id="8" name="TextBox 7"/>
          <p:cNvSpPr txBox="1"/>
          <p:nvPr/>
        </p:nvSpPr>
        <p:spPr>
          <a:xfrm>
            <a:off x="594360" y="3063240"/>
            <a:ext cx="5394960" cy="411480"/>
          </a:xfrm>
          <a:prstGeom prst="rect">
            <a:avLst/>
          </a:prstGeom>
          <a:noFill/>
        </p:spPr>
        <p:txBody>
          <a:bodyPr wrap="square" lIns="18288" rIns="18288" tIns="18288" bIns="18288" anchor="t">
            <a:spAutoFit/>
          </a:bodyPr>
          <a:lstStyle/>
          <a:p>
            <a:pPr algn="l"/>
            <a:r>
              <a:rPr sz="1500" b="1">
                <a:solidFill>
                  <a:srgbClr val="2869EB"/>
                </a:solidFill>
                <a:latin typeface="Aptos"/>
              </a:rPr>
              <a:t>30-Day Internship / Volunteer Field Engagement Report</a:t>
            </a:r>
          </a:p>
        </p:txBody>
      </p:sp>
      <p:sp>
        <p:nvSpPr>
          <p:cNvPr id="9" name="TextBox 8"/>
          <p:cNvSpPr txBox="1"/>
          <p:nvPr/>
        </p:nvSpPr>
        <p:spPr>
          <a:xfrm>
            <a:off x="594360" y="4983480"/>
            <a:ext cx="2011680" cy="228600"/>
          </a:xfrm>
          <a:prstGeom prst="rect">
            <a:avLst/>
          </a:prstGeom>
          <a:noFill/>
        </p:spPr>
        <p:txBody>
          <a:bodyPr wrap="square" lIns="18288" rIns="18288" tIns="18288" bIns="18288" anchor="t">
            <a:spAutoFit/>
          </a:bodyPr>
          <a:lstStyle/>
          <a:p>
            <a:pPr algn="l"/>
            <a:r>
              <a:rPr sz="900" b="1">
                <a:solidFill>
                  <a:srgbClr val="2869EB"/>
                </a:solidFill>
                <a:latin typeface="Aptos"/>
              </a:rPr>
              <a:t>INTERNSHIP DURATION</a:t>
            </a:r>
          </a:p>
        </p:txBody>
      </p:sp>
      <p:sp>
        <p:nvSpPr>
          <p:cNvPr id="10" name="TextBox 9"/>
          <p:cNvSpPr txBox="1"/>
          <p:nvPr/>
        </p:nvSpPr>
        <p:spPr>
          <a:xfrm>
            <a:off x="594360" y="5257800"/>
            <a:ext cx="3474720" cy="320040"/>
          </a:xfrm>
          <a:prstGeom prst="rect">
            <a:avLst/>
          </a:prstGeom>
          <a:noFill/>
        </p:spPr>
        <p:txBody>
          <a:bodyPr wrap="square" lIns="18288" rIns="18288" tIns="18288" bIns="18288" anchor="t">
            <a:spAutoFit/>
          </a:bodyPr>
          <a:lstStyle/>
          <a:p>
            <a:pPr algn="l"/>
            <a:r>
              <a:rPr sz="1300" b="1">
                <a:solidFill>
                  <a:srgbClr val="0F172A"/>
                </a:solidFill>
                <a:latin typeface="Aptos"/>
              </a:rPr>
              <a:t>01 July 2026 – 30 July 2026</a:t>
            </a:r>
          </a:p>
        </p:txBody>
      </p:sp>
      <p:sp>
        <p:nvSpPr>
          <p:cNvPr id="11" name="TextBox 10"/>
          <p:cNvSpPr txBox="1"/>
          <p:nvPr/>
        </p:nvSpPr>
        <p:spPr>
          <a:xfrm>
            <a:off x="7059168" y="502920"/>
            <a:ext cx="2377440" cy="228600"/>
          </a:xfrm>
          <a:prstGeom prst="rect">
            <a:avLst/>
          </a:prstGeom>
          <a:noFill/>
        </p:spPr>
        <p:txBody>
          <a:bodyPr wrap="square" lIns="18288" rIns="18288" tIns="18288" bIns="18288" anchor="t">
            <a:spAutoFit/>
          </a:bodyPr>
          <a:lstStyle/>
          <a:p>
            <a:pPr algn="l"/>
            <a:r>
              <a:rPr sz="900" b="1">
                <a:solidFill>
                  <a:srgbClr val="5EAAEE"/>
                </a:solidFill>
                <a:latin typeface="Aptos"/>
              </a:rPr>
              <a:t>STUDENT CREDENTIALS</a:t>
            </a:r>
          </a:p>
        </p:txBody>
      </p:sp>
      <p:sp>
        <p:nvSpPr>
          <p:cNvPr id="12" name="Rounded Rectangle 11"/>
          <p:cNvSpPr/>
          <p:nvPr/>
        </p:nvSpPr>
        <p:spPr>
          <a:xfrm>
            <a:off x="7059168" y="868680"/>
            <a:ext cx="4526280" cy="1143000"/>
          </a:xfrm>
          <a:prstGeom prst="roundRect">
            <a:avLst>
              <a:gd name="adj" fmla="val 8000"/>
            </a:avLst>
          </a:prstGeom>
          <a:solidFill>
            <a:srgbClr val="273556"/>
          </a:solidFill>
          <a:ln>
            <a:solidFill>
              <a:srgbClr val="465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078992"/>
            <a:ext cx="3840480" cy="384048"/>
          </a:xfrm>
          <a:prstGeom prst="rect">
            <a:avLst/>
          </a:prstGeom>
          <a:noFill/>
        </p:spPr>
        <p:txBody>
          <a:bodyPr wrap="square" lIns="18288" rIns="18288" tIns="18288" bIns="18288" anchor="t">
            <a:spAutoFit/>
          </a:bodyPr>
          <a:lstStyle/>
          <a:p>
            <a:pPr algn="l"/>
            <a:r>
              <a:rPr sz="2100" b="1">
                <a:solidFill>
                  <a:srgbClr val="FFFFFF"/>
                </a:solidFill>
                <a:latin typeface="Aptos"/>
              </a:rPr>
              <a:t>Mohd Huzaifa Usmani</a:t>
            </a:r>
          </a:p>
        </p:txBody>
      </p:sp>
      <p:sp>
        <p:nvSpPr>
          <p:cNvPr id="14" name="TextBox 13"/>
          <p:cNvSpPr txBox="1"/>
          <p:nvPr/>
        </p:nvSpPr>
        <p:spPr>
          <a:xfrm>
            <a:off x="7315200" y="1572768"/>
            <a:ext cx="2560320" cy="228600"/>
          </a:xfrm>
          <a:prstGeom prst="rect">
            <a:avLst/>
          </a:prstGeom>
          <a:noFill/>
        </p:spPr>
        <p:txBody>
          <a:bodyPr wrap="square" lIns="18288" rIns="18288" tIns="18288" bIns="18288" anchor="t">
            <a:spAutoFit/>
          </a:bodyPr>
          <a:lstStyle/>
          <a:p>
            <a:pPr algn="l"/>
            <a:r>
              <a:rPr sz="900" b="0">
                <a:solidFill>
                  <a:srgbClr val="CDD8EC"/>
                </a:solidFill>
                <a:latin typeface="Aptos"/>
              </a:rPr>
              <a:t>Roll No. 25SCS1003003703</a:t>
            </a:r>
          </a:p>
        </p:txBody>
      </p:sp>
      <p:sp>
        <p:nvSpPr>
          <p:cNvPr id="15" name="TextBox 14"/>
          <p:cNvSpPr txBox="1"/>
          <p:nvPr/>
        </p:nvSpPr>
        <p:spPr>
          <a:xfrm>
            <a:off x="9235440" y="1572768"/>
            <a:ext cx="2011680" cy="228600"/>
          </a:xfrm>
          <a:prstGeom prst="rect">
            <a:avLst/>
          </a:prstGeom>
          <a:noFill/>
        </p:spPr>
        <p:txBody>
          <a:bodyPr wrap="square" lIns="18288" rIns="18288" tIns="18288" bIns="18288" anchor="t">
            <a:spAutoFit/>
          </a:bodyPr>
          <a:lstStyle/>
          <a:p>
            <a:pPr algn="l"/>
            <a:r>
              <a:rPr sz="900" b="0">
                <a:solidFill>
                  <a:srgbClr val="CDD8EC"/>
                </a:solidFill>
                <a:latin typeface="Aptos"/>
              </a:rPr>
              <a:t>B.Tech CSE | Batch 2025–2029</a:t>
            </a:r>
          </a:p>
        </p:txBody>
      </p:sp>
      <p:sp>
        <p:nvSpPr>
          <p:cNvPr id="16" name="Rounded Rectangle 15"/>
          <p:cNvSpPr/>
          <p:nvPr/>
        </p:nvSpPr>
        <p:spPr>
          <a:xfrm>
            <a:off x="7296912" y="5166360"/>
            <a:ext cx="3977639" cy="77724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5321808"/>
            <a:ext cx="1554480" cy="164592"/>
          </a:xfrm>
          <a:prstGeom prst="rect">
            <a:avLst/>
          </a:prstGeom>
          <a:noFill/>
        </p:spPr>
        <p:txBody>
          <a:bodyPr wrap="square" lIns="18288" rIns="18288" tIns="18288" bIns="18288" anchor="t">
            <a:spAutoFit/>
          </a:bodyPr>
          <a:lstStyle/>
          <a:p>
            <a:pPr algn="l"/>
            <a:r>
              <a:rPr sz="800" b="0">
                <a:solidFill>
                  <a:srgbClr val="FFFFFF"/>
                </a:solidFill>
                <a:latin typeface="Aptos"/>
              </a:rPr>
              <a:t>HOST ORGANIZATION</a:t>
            </a:r>
          </a:p>
        </p:txBody>
      </p:sp>
      <p:sp>
        <p:nvSpPr>
          <p:cNvPr id="18" name="TextBox 17"/>
          <p:cNvSpPr txBox="1"/>
          <p:nvPr/>
        </p:nvSpPr>
        <p:spPr>
          <a:xfrm>
            <a:off x="7516368" y="5559552"/>
            <a:ext cx="3383280" cy="228600"/>
          </a:xfrm>
          <a:prstGeom prst="rect">
            <a:avLst/>
          </a:prstGeom>
          <a:noFill/>
        </p:spPr>
        <p:txBody>
          <a:bodyPr wrap="square" lIns="18288" rIns="18288" tIns="18288" bIns="18288" anchor="t">
            <a:spAutoFit/>
          </a:bodyPr>
          <a:lstStyle/>
          <a:p>
            <a:pPr algn="l"/>
            <a:r>
              <a:rPr sz="1100" b="1">
                <a:solidFill>
                  <a:srgbClr val="FFFFFF"/>
                </a:solidFill>
                <a:latin typeface="Aptos"/>
              </a:rPr>
              <a:t>Jyoti Sarp Kanya Asra Society</a:t>
            </a:r>
          </a:p>
        </p:txBody>
      </p:sp>
      <p:sp>
        <p:nvSpPr>
          <p:cNvPr id="19" name="Rounded Rectangle 18"/>
          <p:cNvSpPr/>
          <p:nvPr/>
        </p:nvSpPr>
        <p:spPr>
          <a:xfrm>
            <a:off x="11247120" y="4434840"/>
            <a:ext cx="274320" cy="27432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402568" y="4279392"/>
            <a:ext cx="274320" cy="27432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Candidate &amp; Engagement Overview</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5349240" cy="22402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17320"/>
            <a:ext cx="45720" cy="22402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Candidate Details</a:t>
            </a:r>
          </a:p>
        </p:txBody>
      </p:sp>
      <p:sp>
        <p:nvSpPr>
          <p:cNvPr id="7" name="TextBox 6"/>
          <p:cNvSpPr txBox="1"/>
          <p:nvPr/>
        </p:nvSpPr>
        <p:spPr>
          <a:xfrm>
            <a:off x="822960" y="2130552"/>
            <a:ext cx="4846320" cy="1399032"/>
          </a:xfrm>
          <a:prstGeom prst="rect">
            <a:avLst/>
          </a:prstGeom>
          <a:noFill/>
        </p:spPr>
        <p:txBody>
          <a:bodyPr wrap="square" lIns="18288" rIns="18288" tIns="18288" bIns="18288" anchor="t">
            <a:spAutoFit/>
          </a:bodyPr>
          <a:lstStyle/>
          <a:p>
            <a:pPr algn="l"/>
            <a:r>
              <a:rPr sz="1150" b="0">
                <a:solidFill>
                  <a:srgbClr val="485770"/>
                </a:solidFill>
                <a:latin typeface="Aptos"/>
              </a:rPr>
              <a:t>Student Name: Mohd Huzaifa Usmani</a:t>
            </a:r>
            <a:br/>
            <a:r>
              <a:t>Roll Number: 25SCS1003003703</a:t>
            </a:r>
            <a:br/>
            <a:r>
              <a:t>Degree: B.Tech (Computer Science &amp; Engineering)</a:t>
            </a:r>
            <a:br/>
            <a:r>
              <a:t>Academic Batch: 2025–2029</a:t>
            </a:r>
            <a:br/>
            <a:r>
              <a:t>University: IILM University, Greater Noida, U.P.</a:t>
            </a:r>
          </a:p>
        </p:txBody>
      </p:sp>
      <p:sp>
        <p:nvSpPr>
          <p:cNvPr id="8" name="Rounded Rectangle 7"/>
          <p:cNvSpPr/>
          <p:nvPr/>
        </p:nvSpPr>
        <p:spPr>
          <a:xfrm>
            <a:off x="6263640" y="1417320"/>
            <a:ext cx="5349240" cy="22402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417320"/>
            <a:ext cx="45720" cy="224028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Engagement Profile</a:t>
            </a:r>
          </a:p>
        </p:txBody>
      </p:sp>
      <p:sp>
        <p:nvSpPr>
          <p:cNvPr id="11" name="TextBox 10"/>
          <p:cNvSpPr txBox="1"/>
          <p:nvPr/>
        </p:nvSpPr>
        <p:spPr>
          <a:xfrm>
            <a:off x="6519672" y="2130552"/>
            <a:ext cx="4846320" cy="1399032"/>
          </a:xfrm>
          <a:prstGeom prst="rect">
            <a:avLst/>
          </a:prstGeom>
          <a:noFill/>
        </p:spPr>
        <p:txBody>
          <a:bodyPr wrap="square" lIns="18288" rIns="18288" tIns="18288" bIns="18288" anchor="t">
            <a:spAutoFit/>
          </a:bodyPr>
          <a:lstStyle/>
          <a:p>
            <a:pPr algn="l"/>
            <a:r>
              <a:rPr sz="1150" b="0">
                <a:solidFill>
                  <a:srgbClr val="485770"/>
                </a:solidFill>
                <a:latin typeface="Aptos"/>
              </a:rPr>
              <a:t>Program: Social Welfare &amp; Community Support Engagement</a:t>
            </a:r>
            <a:br/>
            <a:r>
              <a:t>Organization: Jyoti Sarp Kanya Asra Society</a:t>
            </a:r>
            <a:br/>
            <a:r>
              <a:t>Duration: 30 Days</a:t>
            </a:r>
            <a:br/>
            <a:r>
              <a:t>Period: 01 July 2026 – 30 July 2026</a:t>
            </a:r>
            <a:br/>
            <a:r>
              <a:t>Nature: Volunteer / field engagement</a:t>
            </a:r>
          </a:p>
        </p:txBody>
      </p:sp>
      <p:sp>
        <p:nvSpPr>
          <p:cNvPr id="12" name="Rounded Rectangle 11"/>
          <p:cNvSpPr/>
          <p:nvPr/>
        </p:nvSpPr>
        <p:spPr>
          <a:xfrm>
            <a:off x="566928" y="3977639"/>
            <a:ext cx="11045952" cy="141732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977639"/>
            <a:ext cx="45720" cy="141732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33672"/>
            <a:ext cx="10543032" cy="292608"/>
          </a:xfrm>
          <a:prstGeom prst="rect">
            <a:avLst/>
          </a:prstGeom>
          <a:noFill/>
        </p:spPr>
        <p:txBody>
          <a:bodyPr wrap="square" lIns="18288" rIns="18288" tIns="18288" bIns="18288" anchor="t">
            <a:spAutoFit/>
          </a:bodyPr>
          <a:lstStyle/>
          <a:p>
            <a:pPr algn="l"/>
            <a:r>
              <a:rPr sz="1500" b="1">
                <a:solidFill>
                  <a:srgbClr val="141F38"/>
                </a:solidFill>
                <a:latin typeface="Aptos"/>
              </a:rPr>
              <a:t>Certificate-Based Scope</a:t>
            </a:r>
          </a:p>
        </p:txBody>
      </p:sp>
      <p:sp>
        <p:nvSpPr>
          <p:cNvPr id="15" name="TextBox 14"/>
          <p:cNvSpPr txBox="1"/>
          <p:nvPr/>
        </p:nvSpPr>
        <p:spPr>
          <a:xfrm>
            <a:off x="822960" y="4690872"/>
            <a:ext cx="10543032" cy="576072"/>
          </a:xfrm>
          <a:prstGeom prst="rect">
            <a:avLst/>
          </a:prstGeom>
          <a:noFill/>
        </p:spPr>
        <p:txBody>
          <a:bodyPr wrap="square" lIns="18288" rIns="18288" tIns="18288" bIns="18288" anchor="t">
            <a:spAutoFit/>
          </a:bodyPr>
          <a:lstStyle/>
          <a:p>
            <a:pPr algn="l"/>
            <a:r>
              <a:rPr sz="1200" b="0">
                <a:solidFill>
                  <a:srgbClr val="485770"/>
                </a:solidFill>
                <a:latin typeface="Aptos"/>
              </a:rPr>
              <a:t>The certificate records participation in social welfare programs and activities related to social support, education, and empowerment of underprivileged girls and women. The report follows those documented categories without inventing specific daily events.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Organization Profile</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960120"/>
            <a:ext cx="10881360" cy="320040"/>
          </a:xfrm>
          <a:prstGeom prst="rect">
            <a:avLst/>
          </a:prstGeom>
          <a:noFill/>
        </p:spPr>
        <p:txBody>
          <a:bodyPr wrap="square" lIns="18288" rIns="18288" tIns="18288" bIns="18288" anchor="t">
            <a:spAutoFit/>
          </a:bodyPr>
          <a:lstStyle/>
          <a:p>
            <a:pPr algn="l"/>
            <a:r>
              <a:rPr sz="1050" b="0">
                <a:solidFill>
                  <a:srgbClr val="485770"/>
                </a:solidFill>
                <a:latin typeface="Aptos"/>
              </a:rPr>
              <a:t>What the certificate and report establish</a:t>
            </a:r>
          </a:p>
        </p:txBody>
      </p:sp>
      <p:sp>
        <p:nvSpPr>
          <p:cNvPr id="5" name="Rounded Rectangle 4"/>
          <p:cNvSpPr/>
          <p:nvPr/>
        </p:nvSpPr>
        <p:spPr>
          <a:xfrm>
            <a:off x="566928" y="1371600"/>
            <a:ext cx="3657600" cy="4343400"/>
          </a:xfrm>
          <a:prstGeom prst="roundRect">
            <a:avLst>
              <a:gd name="adj" fmla="val 8000"/>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063240" cy="914400"/>
          </a:xfrm>
          <a:prstGeom prst="rect">
            <a:avLst/>
          </a:prstGeom>
          <a:noFill/>
        </p:spPr>
        <p:txBody>
          <a:bodyPr wrap="square" lIns="18288" rIns="18288" tIns="18288" bIns="18288" anchor="t">
            <a:spAutoFit/>
          </a:bodyPr>
          <a:lstStyle/>
          <a:p>
            <a:pPr algn="l"/>
            <a:r>
              <a:rPr sz="2200" b="1">
                <a:solidFill>
                  <a:srgbClr val="FFFFFF"/>
                </a:solidFill>
                <a:latin typeface="Aptos"/>
              </a:rPr>
              <a:t>JYOTI SARP KANYA</a:t>
            </a:r>
            <a:br/>
            <a:r>
              <a:t>ASRA SOCIETY</a:t>
            </a:r>
          </a:p>
        </p:txBody>
      </p:sp>
      <p:sp>
        <p:nvSpPr>
          <p:cNvPr id="7" name="TextBox 6"/>
          <p:cNvSpPr txBox="1"/>
          <p:nvPr/>
        </p:nvSpPr>
        <p:spPr>
          <a:xfrm>
            <a:off x="868680" y="2971800"/>
            <a:ext cx="2926080" cy="457200"/>
          </a:xfrm>
          <a:prstGeom prst="rect">
            <a:avLst/>
          </a:prstGeom>
          <a:noFill/>
        </p:spPr>
        <p:txBody>
          <a:bodyPr wrap="square" lIns="18288" rIns="18288" tIns="18288" bIns="18288" anchor="t">
            <a:spAutoFit/>
          </a:bodyPr>
          <a:lstStyle/>
          <a:p>
            <a:pPr algn="l"/>
            <a:r>
              <a:rPr sz="1400" b="0">
                <a:solidFill>
                  <a:srgbClr val="CCDAF2"/>
                </a:solidFill>
                <a:latin typeface="Aptos"/>
              </a:rPr>
              <a:t>Social welfare &amp; community support</a:t>
            </a:r>
          </a:p>
        </p:txBody>
      </p:sp>
      <p:sp>
        <p:nvSpPr>
          <p:cNvPr id="8" name="Rectangle 7"/>
          <p:cNvSpPr/>
          <p:nvPr/>
        </p:nvSpPr>
        <p:spPr>
          <a:xfrm>
            <a:off x="868680" y="4069080"/>
            <a:ext cx="2468880" cy="54864"/>
          </a:xfrm>
          <a:prstGeom prst="rect">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343400"/>
            <a:ext cx="2560320" cy="411480"/>
          </a:xfrm>
          <a:prstGeom prst="rect">
            <a:avLst/>
          </a:prstGeom>
          <a:noFill/>
        </p:spPr>
        <p:txBody>
          <a:bodyPr wrap="square" lIns="18288" rIns="18288" tIns="18288" bIns="18288" anchor="t">
            <a:spAutoFit/>
          </a:bodyPr>
          <a:lstStyle/>
          <a:p>
            <a:pPr algn="l"/>
            <a:r>
              <a:rPr sz="1000" b="1">
                <a:solidFill>
                  <a:srgbClr val="5EAAEE"/>
                </a:solidFill>
                <a:latin typeface="Aptos"/>
              </a:rPr>
              <a:t>Focus areas documented in the certificate</a:t>
            </a:r>
          </a:p>
        </p:txBody>
      </p:sp>
      <p:sp>
        <p:nvSpPr>
          <p:cNvPr id="10" name="TextBox 9"/>
          <p:cNvSpPr txBox="1"/>
          <p:nvPr/>
        </p:nvSpPr>
        <p:spPr>
          <a:xfrm>
            <a:off x="868680" y="4773168"/>
            <a:ext cx="2834640" cy="731520"/>
          </a:xfrm>
          <a:prstGeom prst="rect">
            <a:avLst/>
          </a:prstGeom>
          <a:noFill/>
        </p:spPr>
        <p:txBody>
          <a:bodyPr wrap="square" lIns="18288" rIns="18288">
            <a:spAutoFit/>
          </a:bodyPr>
          <a:lstStyle/>
          <a:p>
            <a:pPr>
              <a:spcAft>
                <a:spcPts val="864"/>
              </a:spcAft>
              <a:defRPr sz="1100">
                <a:solidFill>
                  <a:srgbClr val="FFFFFF"/>
                </a:solidFill>
                <a:latin typeface="Aptos"/>
              </a:defRPr>
            </a:pPr>
            <a:r>
              <a:t>• Social support</a:t>
            </a:r>
          </a:p>
          <a:p>
            <a:pPr>
              <a:spcAft>
                <a:spcPts val="864"/>
              </a:spcAft>
              <a:defRPr sz="1100">
                <a:solidFill>
                  <a:srgbClr val="FFFFFF"/>
                </a:solidFill>
                <a:latin typeface="Aptos"/>
              </a:defRPr>
            </a:pPr>
            <a:r>
              <a:t>• Education-related activities</a:t>
            </a:r>
          </a:p>
          <a:p>
            <a:pPr>
              <a:spcAft>
                <a:spcPts val="864"/>
              </a:spcAft>
              <a:defRPr sz="1100">
                <a:solidFill>
                  <a:srgbClr val="FFFFFF"/>
                </a:solidFill>
                <a:latin typeface="Aptos"/>
              </a:defRPr>
            </a:pPr>
            <a:r>
              <a:t>• Empowerment of underprivileged girls and women</a:t>
            </a:r>
          </a:p>
        </p:txBody>
      </p:sp>
      <p:sp>
        <p:nvSpPr>
          <p:cNvPr id="11" name="Rounded Rectangle 10"/>
          <p:cNvSpPr/>
          <p:nvPr/>
        </p:nvSpPr>
        <p:spPr>
          <a:xfrm>
            <a:off x="4526280" y="1371600"/>
            <a:ext cx="7086600" cy="13258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80" y="1371600"/>
            <a:ext cx="45720" cy="13258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2312" y="1627632"/>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Documented Mission Area</a:t>
            </a:r>
          </a:p>
        </p:txBody>
      </p:sp>
      <p:sp>
        <p:nvSpPr>
          <p:cNvPr id="14" name="TextBox 13"/>
          <p:cNvSpPr txBox="1"/>
          <p:nvPr/>
        </p:nvSpPr>
        <p:spPr>
          <a:xfrm>
            <a:off x="4782312" y="2084832"/>
            <a:ext cx="6583680" cy="484631"/>
          </a:xfrm>
          <a:prstGeom prst="rect">
            <a:avLst/>
          </a:prstGeom>
          <a:noFill/>
        </p:spPr>
        <p:txBody>
          <a:bodyPr wrap="square" lIns="18288" rIns="18288" tIns="18288" bIns="18288" anchor="t">
            <a:spAutoFit/>
          </a:bodyPr>
          <a:lstStyle/>
          <a:p>
            <a:pPr algn="l"/>
            <a:r>
              <a:rPr sz="1200" b="0">
                <a:solidFill>
                  <a:srgbClr val="485770"/>
                </a:solidFill>
                <a:latin typeface="Aptos"/>
              </a:rPr>
              <a:t>The engagement centers on welfare-oriented activities and support for people who may face social or educational disadvantage.</a:t>
            </a:r>
          </a:p>
        </p:txBody>
      </p:sp>
      <p:sp>
        <p:nvSpPr>
          <p:cNvPr id="15" name="Rounded Rectangle 14"/>
          <p:cNvSpPr/>
          <p:nvPr/>
        </p:nvSpPr>
        <p:spPr>
          <a:xfrm>
            <a:off x="4526280" y="2907792"/>
            <a:ext cx="7086600" cy="13258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26280" y="2907792"/>
            <a:ext cx="45720" cy="132588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2312" y="3163824"/>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What Is Not Assumed</a:t>
            </a:r>
          </a:p>
        </p:txBody>
      </p:sp>
      <p:sp>
        <p:nvSpPr>
          <p:cNvPr id="18" name="TextBox 17"/>
          <p:cNvSpPr txBox="1"/>
          <p:nvPr/>
        </p:nvSpPr>
        <p:spPr>
          <a:xfrm>
            <a:off x="4782312" y="3621024"/>
            <a:ext cx="6583680" cy="484631"/>
          </a:xfrm>
          <a:prstGeom prst="rect">
            <a:avLst/>
          </a:prstGeom>
          <a:noFill/>
        </p:spPr>
        <p:txBody>
          <a:bodyPr wrap="square" lIns="18288" rIns="18288" tIns="18288" bIns="18288" anchor="t">
            <a:spAutoFit/>
          </a:bodyPr>
          <a:lstStyle/>
          <a:p>
            <a:pPr algn="l"/>
            <a:r>
              <a:rPr sz="1200" b="0">
                <a:solidFill>
                  <a:srgbClr val="485770"/>
                </a:solidFill>
                <a:latin typeface="Aptos"/>
              </a:rPr>
              <a:t>The supplied certificate does not provide detailed founding history, staffing, funding, geographic reach, or beneficiary counts; therefore these are not added as facts.</a:t>
            </a:r>
          </a:p>
        </p:txBody>
      </p:sp>
      <p:sp>
        <p:nvSpPr>
          <p:cNvPr id="19" name="Rounded Rectangle 18"/>
          <p:cNvSpPr/>
          <p:nvPr/>
        </p:nvSpPr>
        <p:spPr>
          <a:xfrm>
            <a:off x="4526280" y="4443984"/>
            <a:ext cx="7086600" cy="1271016"/>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26280" y="4443984"/>
            <a:ext cx="45720" cy="1271016"/>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82312" y="4700016"/>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Core Understanding</a:t>
            </a:r>
          </a:p>
        </p:txBody>
      </p:sp>
      <p:sp>
        <p:nvSpPr>
          <p:cNvPr id="22" name="TextBox 21"/>
          <p:cNvSpPr txBox="1"/>
          <p:nvPr/>
        </p:nvSpPr>
        <p:spPr>
          <a:xfrm>
            <a:off x="4782312" y="5157216"/>
            <a:ext cx="6583680" cy="429767"/>
          </a:xfrm>
          <a:prstGeom prst="rect">
            <a:avLst/>
          </a:prstGeom>
          <a:noFill/>
        </p:spPr>
        <p:txBody>
          <a:bodyPr wrap="square" lIns="18288" rIns="18288" tIns="18288" bIns="18288" anchor="t">
            <a:spAutoFit/>
          </a:bodyPr>
          <a:lstStyle/>
          <a:p>
            <a:pPr algn="l"/>
            <a:r>
              <a:rPr sz="1200" b="0">
                <a:solidFill>
                  <a:srgbClr val="485770"/>
                </a:solidFill>
                <a:latin typeface="Aptos"/>
              </a:rPr>
              <a:t>The organization’s documented work emphasizes care, support, education and empowerment through organized social welfare participation.</a:t>
            </a:r>
          </a:p>
        </p:txBody>
      </p:sp>
      <p:sp>
        <p:nvSpPr>
          <p:cNvPr id="23" name="TextBox 22"/>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Engagement Context &amp; Purpose</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5349240" cy="1874519"/>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17320"/>
            <a:ext cx="45720" cy="1874519"/>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Why Field Engagement Matters</a:t>
            </a:r>
          </a:p>
        </p:txBody>
      </p:sp>
      <p:sp>
        <p:nvSpPr>
          <p:cNvPr id="7" name="TextBox 6"/>
          <p:cNvSpPr txBox="1"/>
          <p:nvPr/>
        </p:nvSpPr>
        <p:spPr>
          <a:xfrm>
            <a:off x="822960" y="2130552"/>
            <a:ext cx="4846320" cy="1033271"/>
          </a:xfrm>
          <a:prstGeom prst="rect">
            <a:avLst/>
          </a:prstGeom>
          <a:noFill/>
        </p:spPr>
        <p:txBody>
          <a:bodyPr wrap="square" lIns="18288" rIns="18288" tIns="18288" bIns="18288" anchor="t">
            <a:spAutoFit/>
          </a:bodyPr>
          <a:lstStyle/>
          <a:p>
            <a:pPr algn="l"/>
            <a:r>
              <a:rPr sz="1300" b="0">
                <a:solidFill>
                  <a:srgbClr val="485770"/>
                </a:solidFill>
                <a:latin typeface="Aptos"/>
              </a:rPr>
              <a:t>Field-based volunteering connects learning with practical situations and develops understanding of community needs, social responsibility and inclusive development.</a:t>
            </a:r>
          </a:p>
        </p:txBody>
      </p:sp>
      <p:sp>
        <p:nvSpPr>
          <p:cNvPr id="8" name="Rounded Rectangle 7"/>
          <p:cNvSpPr/>
          <p:nvPr/>
        </p:nvSpPr>
        <p:spPr>
          <a:xfrm>
            <a:off x="6263640" y="1417320"/>
            <a:ext cx="5349240" cy="1874519"/>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417320"/>
            <a:ext cx="45720" cy="1874519"/>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Documented Scope</a:t>
            </a:r>
          </a:p>
        </p:txBody>
      </p:sp>
      <p:sp>
        <p:nvSpPr>
          <p:cNvPr id="11" name="TextBox 10"/>
          <p:cNvSpPr txBox="1"/>
          <p:nvPr/>
        </p:nvSpPr>
        <p:spPr>
          <a:xfrm>
            <a:off x="6519672" y="2130552"/>
            <a:ext cx="4846320" cy="1033271"/>
          </a:xfrm>
          <a:prstGeom prst="rect">
            <a:avLst/>
          </a:prstGeom>
          <a:noFill/>
        </p:spPr>
        <p:txBody>
          <a:bodyPr wrap="square" lIns="18288" rIns="18288" tIns="18288" bIns="18288" anchor="t">
            <a:spAutoFit/>
          </a:bodyPr>
          <a:lstStyle/>
          <a:p>
            <a:pPr algn="l"/>
            <a:r>
              <a:rPr sz="1300" b="0">
                <a:solidFill>
                  <a:srgbClr val="485770"/>
                </a:solidFill>
                <a:latin typeface="Aptos"/>
              </a:rPr>
              <a:t>Participation in social welfare programs, social support activities, education-related support, and empowerment-oriented initiatives.</a:t>
            </a:r>
          </a:p>
        </p:txBody>
      </p:sp>
      <p:sp>
        <p:nvSpPr>
          <p:cNvPr id="12" name="Rounded Rectangle 11"/>
          <p:cNvSpPr/>
          <p:nvPr/>
        </p:nvSpPr>
        <p:spPr>
          <a:xfrm>
            <a:off x="566928" y="3657600"/>
            <a:ext cx="11045952"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657600"/>
            <a:ext cx="45720" cy="178308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13632"/>
            <a:ext cx="10543032" cy="292608"/>
          </a:xfrm>
          <a:prstGeom prst="rect">
            <a:avLst/>
          </a:prstGeom>
          <a:noFill/>
        </p:spPr>
        <p:txBody>
          <a:bodyPr wrap="square" lIns="18288" rIns="18288" tIns="18288" bIns="18288" anchor="t">
            <a:spAutoFit/>
          </a:bodyPr>
          <a:lstStyle/>
          <a:p>
            <a:pPr algn="l"/>
            <a:r>
              <a:rPr sz="1500" b="1">
                <a:solidFill>
                  <a:srgbClr val="141F38"/>
                </a:solidFill>
                <a:latin typeface="Aptos"/>
              </a:rPr>
              <a:t>Learning Perspective</a:t>
            </a:r>
          </a:p>
        </p:txBody>
      </p:sp>
      <p:sp>
        <p:nvSpPr>
          <p:cNvPr id="15" name="TextBox 14"/>
          <p:cNvSpPr txBox="1"/>
          <p:nvPr/>
        </p:nvSpPr>
        <p:spPr>
          <a:xfrm>
            <a:off x="822960" y="4370832"/>
            <a:ext cx="10543032" cy="941831"/>
          </a:xfrm>
          <a:prstGeom prst="rect">
            <a:avLst/>
          </a:prstGeom>
          <a:noFill/>
        </p:spPr>
        <p:txBody>
          <a:bodyPr wrap="square" lIns="18288" rIns="18288" tIns="18288" bIns="18288" anchor="t">
            <a:spAutoFit/>
          </a:bodyPr>
          <a:lstStyle/>
          <a:p>
            <a:pPr algn="l"/>
            <a:r>
              <a:rPr sz="1300" b="0">
                <a:solidFill>
                  <a:srgbClr val="485770"/>
                </a:solidFill>
                <a:latin typeface="Aptos"/>
              </a:rPr>
              <a:t>The experience placed service, teamwork and responsible participation at the center. It showed that organized community initiatives can address everyday needs and encourage greater participation in education and empowerment.</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Core Objectives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3677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01</a:t>
            </a:r>
          </a:p>
        </p:txBody>
      </p:sp>
      <p:sp>
        <p:nvSpPr>
          <p:cNvPr id="7" name="TextBox 6"/>
          <p:cNvSpPr txBox="1"/>
          <p:nvPr/>
        </p:nvSpPr>
        <p:spPr>
          <a:xfrm>
            <a:off x="1463040" y="152704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Participate responsibly</a:t>
            </a:r>
          </a:p>
        </p:txBody>
      </p:sp>
      <p:sp>
        <p:nvSpPr>
          <p:cNvPr id="8" name="TextBox 7"/>
          <p:cNvSpPr txBox="1"/>
          <p:nvPr/>
        </p:nvSpPr>
        <p:spPr>
          <a:xfrm>
            <a:off x="1463040" y="1892807"/>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Take part in social welfare activities with commitment and discipline.</a:t>
            </a:r>
          </a:p>
        </p:txBody>
      </p:sp>
      <p:sp>
        <p:nvSpPr>
          <p:cNvPr id="9" name="Rounded Rectangle 8"/>
          <p:cNvSpPr/>
          <p:nvPr/>
        </p:nvSpPr>
        <p:spPr>
          <a:xfrm>
            <a:off x="6217920" y="132588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82512" y="153619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63677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02</a:t>
            </a:r>
          </a:p>
        </p:txBody>
      </p:sp>
      <p:sp>
        <p:nvSpPr>
          <p:cNvPr id="12" name="TextBox 11"/>
          <p:cNvSpPr txBox="1"/>
          <p:nvPr/>
        </p:nvSpPr>
        <p:spPr>
          <a:xfrm>
            <a:off x="7114031" y="152704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Support the community</a:t>
            </a:r>
          </a:p>
        </p:txBody>
      </p:sp>
      <p:sp>
        <p:nvSpPr>
          <p:cNvPr id="13" name="TextBox 12"/>
          <p:cNvSpPr txBox="1"/>
          <p:nvPr/>
        </p:nvSpPr>
        <p:spPr>
          <a:xfrm>
            <a:off x="7114031" y="1892807"/>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Assist with activities connected with community and social support.</a:t>
            </a:r>
          </a:p>
        </p:txBody>
      </p:sp>
      <p:sp>
        <p:nvSpPr>
          <p:cNvPr id="14" name="Rounded Rectangle 13"/>
          <p:cNvSpPr/>
          <p:nvPr/>
        </p:nvSpPr>
        <p:spPr>
          <a:xfrm>
            <a:off x="566928" y="2834639"/>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044951"/>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145535"/>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03</a:t>
            </a:r>
          </a:p>
        </p:txBody>
      </p:sp>
      <p:sp>
        <p:nvSpPr>
          <p:cNvPr id="17" name="TextBox 16"/>
          <p:cNvSpPr txBox="1"/>
          <p:nvPr/>
        </p:nvSpPr>
        <p:spPr>
          <a:xfrm>
            <a:off x="1463040" y="303580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Contribute to education</a:t>
            </a:r>
          </a:p>
        </p:txBody>
      </p:sp>
      <p:sp>
        <p:nvSpPr>
          <p:cNvPr id="18" name="TextBox 17"/>
          <p:cNvSpPr txBox="1"/>
          <p:nvPr/>
        </p:nvSpPr>
        <p:spPr>
          <a:xfrm>
            <a:off x="1463040" y="340156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Support education-related initiatives wherever assistance is required.</a:t>
            </a:r>
          </a:p>
        </p:txBody>
      </p:sp>
      <p:sp>
        <p:nvSpPr>
          <p:cNvPr id="19" name="Rounded Rectangle 18"/>
          <p:cNvSpPr/>
          <p:nvPr/>
        </p:nvSpPr>
        <p:spPr>
          <a:xfrm>
            <a:off x="6217920" y="2834639"/>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2512" y="3044951"/>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145535"/>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04</a:t>
            </a:r>
          </a:p>
        </p:txBody>
      </p:sp>
      <p:sp>
        <p:nvSpPr>
          <p:cNvPr id="22" name="TextBox 21"/>
          <p:cNvSpPr txBox="1"/>
          <p:nvPr/>
        </p:nvSpPr>
        <p:spPr>
          <a:xfrm>
            <a:off x="7114031" y="303580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Understand empowerment</a:t>
            </a:r>
          </a:p>
        </p:txBody>
      </p:sp>
      <p:sp>
        <p:nvSpPr>
          <p:cNvPr id="23" name="TextBox 22"/>
          <p:cNvSpPr txBox="1"/>
          <p:nvPr/>
        </p:nvSpPr>
        <p:spPr>
          <a:xfrm>
            <a:off x="7114031" y="340156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Recognize the importance of empowering underprivileged girls and women.</a:t>
            </a:r>
          </a:p>
        </p:txBody>
      </p:sp>
      <p:sp>
        <p:nvSpPr>
          <p:cNvPr id="24" name="Rounded Rectangle 23"/>
          <p:cNvSpPr/>
          <p:nvPr/>
        </p:nvSpPr>
        <p:spPr>
          <a:xfrm>
            <a:off x="566928" y="434340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55371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65429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05</a:t>
            </a:r>
          </a:p>
        </p:txBody>
      </p:sp>
      <p:sp>
        <p:nvSpPr>
          <p:cNvPr id="27" name="TextBox 26"/>
          <p:cNvSpPr txBox="1"/>
          <p:nvPr/>
        </p:nvSpPr>
        <p:spPr>
          <a:xfrm>
            <a:off x="1463040" y="454456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Build soft skills</a:t>
            </a:r>
          </a:p>
        </p:txBody>
      </p:sp>
      <p:sp>
        <p:nvSpPr>
          <p:cNvPr id="28" name="TextBox 27"/>
          <p:cNvSpPr txBox="1"/>
          <p:nvPr/>
        </p:nvSpPr>
        <p:spPr>
          <a:xfrm>
            <a:off x="1463040" y="491032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Develop communication, teamwork, responsibility, empathy and a service-oriented attitude.</a:t>
            </a:r>
          </a:p>
        </p:txBody>
      </p:sp>
      <p:sp>
        <p:nvSpPr>
          <p:cNvPr id="29" name="Rounded Rectangle 28"/>
          <p:cNvSpPr/>
          <p:nvPr/>
        </p:nvSpPr>
        <p:spPr>
          <a:xfrm>
            <a:off x="6217920" y="434340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82512" y="455371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65429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06</a:t>
            </a:r>
          </a:p>
        </p:txBody>
      </p:sp>
      <p:sp>
        <p:nvSpPr>
          <p:cNvPr id="32" name="TextBox 31"/>
          <p:cNvSpPr txBox="1"/>
          <p:nvPr/>
        </p:nvSpPr>
        <p:spPr>
          <a:xfrm>
            <a:off x="7114031" y="454456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Gain field exposure</a:t>
            </a:r>
          </a:p>
        </p:txBody>
      </p:sp>
      <p:sp>
        <p:nvSpPr>
          <p:cNvPr id="33" name="TextBox 32"/>
          <p:cNvSpPr txBox="1"/>
          <p:nvPr/>
        </p:nvSpPr>
        <p:spPr>
          <a:xfrm>
            <a:off x="7114031" y="491032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Understand organized community work and the value of sustained participation.</a:t>
            </a:r>
          </a:p>
        </p:txBody>
      </p:sp>
      <p:sp>
        <p:nvSpPr>
          <p:cNvPr id="34" name="TextBox 3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Nature of Work &amp; Activities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71600"/>
            <a:ext cx="45720" cy="17830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Social Welfare Programs</a:t>
            </a:r>
          </a:p>
        </p:txBody>
      </p:sp>
      <p:sp>
        <p:nvSpPr>
          <p:cNvPr id="7" name="TextBox 6"/>
          <p:cNvSpPr txBox="1"/>
          <p:nvPr/>
        </p:nvSpPr>
        <p:spPr>
          <a:xfrm>
            <a:off x="822960"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Participation in activities intended to support members of the community and contribute to welfare-oriented initiatives.</a:t>
            </a:r>
          </a:p>
        </p:txBody>
      </p:sp>
      <p:sp>
        <p:nvSpPr>
          <p:cNvPr id="8" name="Rounded Rectangle 7"/>
          <p:cNvSpPr/>
          <p:nvPr/>
        </p:nvSpPr>
        <p:spPr>
          <a:xfrm>
            <a:off x="4270248"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70248" y="1371600"/>
            <a:ext cx="45720" cy="178308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Social Support</a:t>
            </a:r>
          </a:p>
        </p:txBody>
      </p:sp>
      <p:sp>
        <p:nvSpPr>
          <p:cNvPr id="11" name="TextBox 10"/>
          <p:cNvSpPr txBox="1"/>
          <p:nvPr/>
        </p:nvSpPr>
        <p:spPr>
          <a:xfrm>
            <a:off x="4526280"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Assisting with practical and interpersonal support for beneficiaries and the organizing team.</a:t>
            </a:r>
          </a:p>
        </p:txBody>
      </p:sp>
      <p:sp>
        <p:nvSpPr>
          <p:cNvPr id="12" name="Rounded Rectangle 11"/>
          <p:cNvSpPr/>
          <p:nvPr/>
        </p:nvSpPr>
        <p:spPr>
          <a:xfrm>
            <a:off x="7973567"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73567" y="1371600"/>
            <a:ext cx="45720" cy="178308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Education-Related Support</a:t>
            </a:r>
          </a:p>
        </p:txBody>
      </p:sp>
      <p:sp>
        <p:nvSpPr>
          <p:cNvPr id="15" name="TextBox 14"/>
          <p:cNvSpPr txBox="1"/>
          <p:nvPr/>
        </p:nvSpPr>
        <p:spPr>
          <a:xfrm>
            <a:off x="8229599"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Contributing to education-connected activities and a supportive environment for learning and development.</a:t>
            </a:r>
          </a:p>
        </p:txBody>
      </p:sp>
      <p:sp>
        <p:nvSpPr>
          <p:cNvPr id="16" name="Rounded Rectangle 15"/>
          <p:cNvSpPr/>
          <p:nvPr/>
        </p:nvSpPr>
        <p:spPr>
          <a:xfrm>
            <a:off x="566928" y="3611880"/>
            <a:ext cx="5349240"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611880"/>
            <a:ext cx="45720" cy="178308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67912"/>
            <a:ext cx="4846320" cy="292608"/>
          </a:xfrm>
          <a:prstGeom prst="rect">
            <a:avLst/>
          </a:prstGeom>
          <a:noFill/>
        </p:spPr>
        <p:txBody>
          <a:bodyPr wrap="square" lIns="18288" rIns="18288" tIns="18288" bIns="18288" anchor="t">
            <a:spAutoFit/>
          </a:bodyPr>
          <a:lstStyle/>
          <a:p>
            <a:pPr algn="l"/>
            <a:r>
              <a:rPr sz="1350" b="1">
                <a:solidFill>
                  <a:srgbClr val="141F38"/>
                </a:solidFill>
                <a:latin typeface="Aptos"/>
              </a:rPr>
              <a:t>Empowerment Activities</a:t>
            </a:r>
          </a:p>
        </p:txBody>
      </p:sp>
      <p:sp>
        <p:nvSpPr>
          <p:cNvPr id="19" name="TextBox 18"/>
          <p:cNvSpPr txBox="1"/>
          <p:nvPr/>
        </p:nvSpPr>
        <p:spPr>
          <a:xfrm>
            <a:off x="822960" y="4325112"/>
            <a:ext cx="4846320" cy="941831"/>
          </a:xfrm>
          <a:prstGeom prst="rect">
            <a:avLst/>
          </a:prstGeom>
          <a:noFill/>
        </p:spPr>
        <p:txBody>
          <a:bodyPr wrap="square" lIns="18288" rIns="18288" tIns="18288" bIns="18288" anchor="t">
            <a:spAutoFit/>
          </a:bodyPr>
          <a:lstStyle/>
          <a:p>
            <a:pPr algn="l"/>
            <a:r>
              <a:rPr sz="1150" b="0">
                <a:solidFill>
                  <a:srgbClr val="485770"/>
                </a:solidFill>
                <a:latin typeface="Aptos"/>
              </a:rPr>
              <a:t>Supporting initiatives focused on underprivileged girls and women, emphasizing dignity, opportunity and participation.</a:t>
            </a:r>
          </a:p>
        </p:txBody>
      </p:sp>
      <p:sp>
        <p:nvSpPr>
          <p:cNvPr id="20" name="Rounded Rectangle 19"/>
          <p:cNvSpPr/>
          <p:nvPr/>
        </p:nvSpPr>
        <p:spPr>
          <a:xfrm>
            <a:off x="6263640" y="3611880"/>
            <a:ext cx="5349240"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63640" y="3611880"/>
            <a:ext cx="45720" cy="17830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3867912"/>
            <a:ext cx="4846320" cy="292608"/>
          </a:xfrm>
          <a:prstGeom prst="rect">
            <a:avLst/>
          </a:prstGeom>
          <a:noFill/>
        </p:spPr>
        <p:txBody>
          <a:bodyPr wrap="square" lIns="18288" rIns="18288" tIns="18288" bIns="18288" anchor="t">
            <a:spAutoFit/>
          </a:bodyPr>
          <a:lstStyle/>
          <a:p>
            <a:pPr algn="l"/>
            <a:r>
              <a:rPr sz="1350" b="1">
                <a:solidFill>
                  <a:srgbClr val="141F38"/>
                </a:solidFill>
                <a:latin typeface="Aptos"/>
              </a:rPr>
              <a:t>Team Participation</a:t>
            </a:r>
          </a:p>
        </p:txBody>
      </p:sp>
      <p:sp>
        <p:nvSpPr>
          <p:cNvPr id="23" name="TextBox 22"/>
          <p:cNvSpPr txBox="1"/>
          <p:nvPr/>
        </p:nvSpPr>
        <p:spPr>
          <a:xfrm>
            <a:off x="6519672" y="4325112"/>
            <a:ext cx="4846320" cy="941831"/>
          </a:xfrm>
          <a:prstGeom prst="rect">
            <a:avLst/>
          </a:prstGeom>
          <a:noFill/>
        </p:spPr>
        <p:txBody>
          <a:bodyPr wrap="square" lIns="18288" rIns="18288" tIns="18288" bIns="18288" anchor="t">
            <a:spAutoFit/>
          </a:bodyPr>
          <a:lstStyle/>
          <a:p>
            <a:pPr algn="l"/>
            <a:r>
              <a:rPr sz="1150" b="0">
                <a:solidFill>
                  <a:srgbClr val="485770"/>
                </a:solidFill>
                <a:latin typeface="Aptos"/>
              </a:rPr>
              <a:t>Working cooperatively with the organization and other participants, following instructions and taking responsibility.</a:t>
            </a:r>
          </a:p>
        </p:txBody>
      </p:sp>
      <p:sp>
        <p:nvSpPr>
          <p:cNvPr id="24" name="TextBox 2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Education &amp; Social Support</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2834640" cy="44348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2194560" cy="320040"/>
          </a:xfrm>
          <a:prstGeom prst="rect">
            <a:avLst/>
          </a:prstGeom>
          <a:noFill/>
        </p:spPr>
        <p:txBody>
          <a:bodyPr wrap="square" lIns="18288" rIns="18288" tIns="18288" bIns="18288" anchor="t">
            <a:spAutoFit/>
          </a:bodyPr>
          <a:lstStyle/>
          <a:p>
            <a:pPr algn="l"/>
            <a:r>
              <a:rPr sz="1800" b="1">
                <a:solidFill>
                  <a:srgbClr val="2869EB"/>
                </a:solidFill>
                <a:latin typeface="Aptos"/>
              </a:rPr>
              <a:t>EDUCATION</a:t>
            </a:r>
          </a:p>
        </p:txBody>
      </p:sp>
      <p:sp>
        <p:nvSpPr>
          <p:cNvPr id="6" name="TextBox 5"/>
          <p:cNvSpPr txBox="1"/>
          <p:nvPr/>
        </p:nvSpPr>
        <p:spPr>
          <a:xfrm>
            <a:off x="841248" y="2240280"/>
            <a:ext cx="2148840" cy="502920"/>
          </a:xfrm>
          <a:prstGeom prst="rect">
            <a:avLst/>
          </a:prstGeom>
          <a:noFill/>
        </p:spPr>
        <p:txBody>
          <a:bodyPr wrap="square" lIns="18288" rIns="18288" tIns="18288" bIns="18288" anchor="t">
            <a:spAutoFit/>
          </a:bodyPr>
          <a:lstStyle/>
          <a:p>
            <a:pPr algn="l"/>
            <a:r>
              <a:rPr sz="1400" b="1">
                <a:solidFill>
                  <a:srgbClr val="141F38"/>
                </a:solidFill>
                <a:latin typeface="Aptos"/>
              </a:rPr>
              <a:t>A pathway to greater opportunity</a:t>
            </a:r>
          </a:p>
        </p:txBody>
      </p:sp>
      <p:sp>
        <p:nvSpPr>
          <p:cNvPr id="7" name="TextBox 6"/>
          <p:cNvSpPr txBox="1"/>
          <p:nvPr/>
        </p:nvSpPr>
        <p:spPr>
          <a:xfrm>
            <a:off x="841248" y="3063240"/>
            <a:ext cx="2103120" cy="1554480"/>
          </a:xfrm>
          <a:prstGeom prst="rect">
            <a:avLst/>
          </a:prstGeom>
          <a:noFill/>
        </p:spPr>
        <p:txBody>
          <a:bodyPr wrap="square" lIns="18288" rIns="18288">
            <a:spAutoFit/>
          </a:bodyPr>
          <a:lstStyle/>
          <a:p>
            <a:pPr>
              <a:spcAft>
                <a:spcPts val="864"/>
              </a:spcAft>
              <a:defRPr sz="1150">
                <a:solidFill>
                  <a:srgbClr val="485770"/>
                </a:solidFill>
                <a:latin typeface="Aptos"/>
              </a:defRPr>
            </a:pPr>
            <a:r>
              <a:t>• Understanding barriers to learning</a:t>
            </a:r>
          </a:p>
          <a:p>
            <a:pPr>
              <a:spcAft>
                <a:spcPts val="864"/>
              </a:spcAft>
              <a:defRPr sz="1150">
                <a:solidFill>
                  <a:srgbClr val="485770"/>
                </a:solidFill>
                <a:latin typeface="Aptos"/>
              </a:defRPr>
            </a:pPr>
            <a:r>
              <a:t>• Encouragement and support</a:t>
            </a:r>
          </a:p>
          <a:p>
            <a:pPr>
              <a:spcAft>
                <a:spcPts val="864"/>
              </a:spcAft>
              <a:defRPr sz="1150">
                <a:solidFill>
                  <a:srgbClr val="485770"/>
                </a:solidFill>
                <a:latin typeface="Aptos"/>
              </a:defRPr>
            </a:pPr>
            <a:r>
              <a:t>• Creating a supportive learning environment</a:t>
            </a:r>
          </a:p>
        </p:txBody>
      </p:sp>
      <p:sp>
        <p:nvSpPr>
          <p:cNvPr id="8" name="Rounded Rectangle 7"/>
          <p:cNvSpPr/>
          <p:nvPr/>
        </p:nvSpPr>
        <p:spPr>
          <a:xfrm>
            <a:off x="3703320" y="1325880"/>
            <a:ext cx="790956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05072" y="1645920"/>
            <a:ext cx="2286000" cy="320040"/>
          </a:xfrm>
          <a:prstGeom prst="rect">
            <a:avLst/>
          </a:prstGeom>
          <a:noFill/>
        </p:spPr>
        <p:txBody>
          <a:bodyPr wrap="square" lIns="18288" rIns="18288" tIns="18288" bIns="18288" anchor="t">
            <a:spAutoFit/>
          </a:bodyPr>
          <a:lstStyle/>
          <a:p>
            <a:pPr algn="l"/>
            <a:r>
              <a:rPr sz="1800" b="1">
                <a:solidFill>
                  <a:srgbClr val="388E70"/>
                </a:solidFill>
                <a:latin typeface="Aptos"/>
              </a:rPr>
              <a:t>SOCIAL SUPPORT</a:t>
            </a:r>
          </a:p>
        </p:txBody>
      </p:sp>
      <p:sp>
        <p:nvSpPr>
          <p:cNvPr id="10" name="TextBox 9"/>
          <p:cNvSpPr txBox="1"/>
          <p:nvPr/>
        </p:nvSpPr>
        <p:spPr>
          <a:xfrm>
            <a:off x="4005072" y="2148840"/>
            <a:ext cx="4937760" cy="320040"/>
          </a:xfrm>
          <a:prstGeom prst="rect">
            <a:avLst/>
          </a:prstGeom>
          <a:noFill/>
        </p:spPr>
        <p:txBody>
          <a:bodyPr wrap="square" lIns="18288" rIns="18288" tIns="18288" bIns="18288" anchor="t">
            <a:spAutoFit/>
          </a:bodyPr>
          <a:lstStyle/>
          <a:p>
            <a:pPr algn="l"/>
            <a:r>
              <a:rPr sz="1400" b="1">
                <a:solidFill>
                  <a:srgbClr val="141F38"/>
                </a:solidFill>
                <a:latin typeface="Aptos"/>
              </a:rPr>
              <a:t>Support goes beyond material assistance.</a:t>
            </a:r>
          </a:p>
        </p:txBody>
      </p:sp>
      <p:sp>
        <p:nvSpPr>
          <p:cNvPr id="11" name="TextBox 10"/>
          <p:cNvSpPr txBox="1"/>
          <p:nvPr/>
        </p:nvSpPr>
        <p:spPr>
          <a:xfrm>
            <a:off x="4005072" y="2633472"/>
            <a:ext cx="6995160" cy="384048"/>
          </a:xfrm>
          <a:prstGeom prst="rect">
            <a:avLst/>
          </a:prstGeom>
          <a:noFill/>
        </p:spPr>
        <p:txBody>
          <a:bodyPr wrap="square" lIns="18288" rIns="18288" tIns="18288" bIns="18288" anchor="t">
            <a:spAutoFit/>
          </a:bodyPr>
          <a:lstStyle/>
          <a:p>
            <a:pPr algn="l"/>
            <a:r>
              <a:rPr sz="1150" b="0">
                <a:solidFill>
                  <a:srgbClr val="485770"/>
                </a:solidFill>
                <a:latin typeface="Aptos"/>
              </a:rPr>
              <a:t>Listening • guiding • coordinating • encouraging participation • helping organize activities • contributing time and effort</a:t>
            </a:r>
          </a:p>
        </p:txBody>
      </p:sp>
      <p:sp>
        <p:nvSpPr>
          <p:cNvPr id="12" name="Rounded Rectangle 11"/>
          <p:cNvSpPr/>
          <p:nvPr/>
        </p:nvSpPr>
        <p:spPr>
          <a:xfrm>
            <a:off x="3703320" y="3474720"/>
            <a:ext cx="790956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3474720"/>
            <a:ext cx="45720" cy="18288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9352" y="3730752"/>
            <a:ext cx="7406640" cy="292608"/>
          </a:xfrm>
          <a:prstGeom prst="rect">
            <a:avLst/>
          </a:prstGeom>
          <a:noFill/>
        </p:spPr>
        <p:txBody>
          <a:bodyPr wrap="square" lIns="18288" rIns="18288" tIns="18288" bIns="18288" anchor="t">
            <a:spAutoFit/>
          </a:bodyPr>
          <a:lstStyle/>
          <a:p>
            <a:pPr algn="l"/>
            <a:r>
              <a:rPr sz="1450" b="1">
                <a:solidFill>
                  <a:srgbClr val="141F38"/>
                </a:solidFill>
                <a:latin typeface="Aptos"/>
              </a:rPr>
              <a:t>Key Learning</a:t>
            </a:r>
          </a:p>
        </p:txBody>
      </p:sp>
      <p:sp>
        <p:nvSpPr>
          <p:cNvPr id="15" name="TextBox 14"/>
          <p:cNvSpPr txBox="1"/>
          <p:nvPr/>
        </p:nvSpPr>
        <p:spPr>
          <a:xfrm>
            <a:off x="3959352" y="4187952"/>
            <a:ext cx="7406640" cy="987552"/>
          </a:xfrm>
          <a:prstGeom prst="rect">
            <a:avLst/>
          </a:prstGeom>
          <a:noFill/>
        </p:spPr>
        <p:txBody>
          <a:bodyPr wrap="square" lIns="18288" rIns="18288" tIns="18288" bIns="18288" anchor="t">
            <a:spAutoFit/>
          </a:bodyPr>
          <a:lstStyle/>
          <a:p>
            <a:pPr algn="l"/>
            <a:r>
              <a:rPr sz="1200" b="0">
                <a:solidFill>
                  <a:srgbClr val="485770"/>
                </a:solidFill>
                <a:latin typeface="Aptos"/>
              </a:rPr>
              <a:t>Even routine support tasks can contribute to the smooth functioning of a welfare program. Patience and respectful communication are essential when interacting with people from different backgrounds.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Empowerment of Underprivileged Girls &amp; Women</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53312"/>
            <a:ext cx="11045952" cy="4434840"/>
          </a:xfrm>
          <a:prstGeom prst="roundRect">
            <a:avLst>
              <a:gd name="adj" fmla="val 8000"/>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737360"/>
            <a:ext cx="2286000" cy="274320"/>
          </a:xfrm>
          <a:prstGeom prst="rect">
            <a:avLst/>
          </a:prstGeom>
          <a:noFill/>
        </p:spPr>
        <p:txBody>
          <a:bodyPr wrap="square" lIns="18288" rIns="18288" tIns="18288" bIns="18288" anchor="t">
            <a:spAutoFit/>
          </a:bodyPr>
          <a:lstStyle/>
          <a:p>
            <a:pPr algn="l"/>
            <a:r>
              <a:rPr sz="1100" b="1">
                <a:solidFill>
                  <a:srgbClr val="5EAAEE"/>
                </a:solidFill>
                <a:latin typeface="Aptos"/>
              </a:rPr>
              <a:t>EMPOWERMENT</a:t>
            </a:r>
          </a:p>
        </p:txBody>
      </p:sp>
      <p:sp>
        <p:nvSpPr>
          <p:cNvPr id="6" name="TextBox 5"/>
          <p:cNvSpPr txBox="1"/>
          <p:nvPr/>
        </p:nvSpPr>
        <p:spPr>
          <a:xfrm>
            <a:off x="896112" y="2148840"/>
            <a:ext cx="5943600" cy="502920"/>
          </a:xfrm>
          <a:prstGeom prst="rect">
            <a:avLst/>
          </a:prstGeom>
          <a:noFill/>
        </p:spPr>
        <p:txBody>
          <a:bodyPr wrap="square" lIns="18288" rIns="18288" tIns="18288" bIns="18288" anchor="t">
            <a:spAutoFit/>
          </a:bodyPr>
          <a:lstStyle/>
          <a:p>
            <a:pPr algn="l"/>
            <a:r>
              <a:rPr sz="2500" b="1">
                <a:solidFill>
                  <a:srgbClr val="FFFFFF"/>
                </a:solidFill>
                <a:latin typeface="Aptos"/>
              </a:rPr>
              <a:t>Opportunity • Dignity • Inclusion</a:t>
            </a:r>
          </a:p>
        </p:txBody>
      </p:sp>
      <p:sp>
        <p:nvSpPr>
          <p:cNvPr id="7" name="Rounded Rectangle 6"/>
          <p:cNvSpPr/>
          <p:nvPr/>
        </p:nvSpPr>
        <p:spPr>
          <a:xfrm>
            <a:off x="91440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355848"/>
            <a:ext cx="2560320" cy="274320"/>
          </a:xfrm>
          <a:prstGeom prst="rect">
            <a:avLst/>
          </a:prstGeom>
          <a:noFill/>
        </p:spPr>
        <p:txBody>
          <a:bodyPr wrap="square" lIns="18288" rIns="18288" tIns="18288" bIns="18288" anchor="t">
            <a:spAutoFit/>
          </a:bodyPr>
          <a:lstStyle/>
          <a:p>
            <a:pPr algn="l"/>
            <a:r>
              <a:rPr sz="1400" b="1">
                <a:solidFill>
                  <a:srgbClr val="2869EB"/>
                </a:solidFill>
                <a:latin typeface="Aptos"/>
              </a:rPr>
              <a:t>Education</a:t>
            </a:r>
          </a:p>
        </p:txBody>
      </p:sp>
      <p:sp>
        <p:nvSpPr>
          <p:cNvPr id="9" name="TextBox 8"/>
          <p:cNvSpPr txBox="1"/>
          <p:nvPr/>
        </p:nvSpPr>
        <p:spPr>
          <a:xfrm>
            <a:off x="114300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Encourages greater participation in learning and development.</a:t>
            </a:r>
          </a:p>
        </p:txBody>
      </p:sp>
      <p:sp>
        <p:nvSpPr>
          <p:cNvPr id="10" name="Rounded Rectangle 9"/>
          <p:cNvSpPr/>
          <p:nvPr/>
        </p:nvSpPr>
        <p:spPr>
          <a:xfrm>
            <a:off x="438912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355848"/>
            <a:ext cx="2560320" cy="274320"/>
          </a:xfrm>
          <a:prstGeom prst="rect">
            <a:avLst/>
          </a:prstGeom>
          <a:noFill/>
        </p:spPr>
        <p:txBody>
          <a:bodyPr wrap="square" lIns="18288" rIns="18288" tIns="18288" bIns="18288" anchor="t">
            <a:spAutoFit/>
          </a:bodyPr>
          <a:lstStyle/>
          <a:p>
            <a:pPr algn="l"/>
            <a:r>
              <a:rPr sz="1400" b="1">
                <a:solidFill>
                  <a:srgbClr val="388E70"/>
                </a:solidFill>
                <a:latin typeface="Aptos"/>
              </a:rPr>
              <a:t>Participation</a:t>
            </a:r>
          </a:p>
        </p:txBody>
      </p:sp>
      <p:sp>
        <p:nvSpPr>
          <p:cNvPr id="12" name="TextBox 11"/>
          <p:cNvSpPr txBox="1"/>
          <p:nvPr/>
        </p:nvSpPr>
        <p:spPr>
          <a:xfrm>
            <a:off x="461772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Creates space for individuals to take part more fully in opportunities and decision-making.</a:t>
            </a:r>
          </a:p>
        </p:txBody>
      </p:sp>
      <p:sp>
        <p:nvSpPr>
          <p:cNvPr id="13" name="Rounded Rectangle 12"/>
          <p:cNvSpPr/>
          <p:nvPr/>
        </p:nvSpPr>
        <p:spPr>
          <a:xfrm>
            <a:off x="786384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355848"/>
            <a:ext cx="2560320" cy="274320"/>
          </a:xfrm>
          <a:prstGeom prst="rect">
            <a:avLst/>
          </a:prstGeom>
          <a:noFill/>
        </p:spPr>
        <p:txBody>
          <a:bodyPr wrap="square" lIns="18288" rIns="18288" tIns="18288" bIns="18288" anchor="t">
            <a:spAutoFit/>
          </a:bodyPr>
          <a:lstStyle/>
          <a:p>
            <a:pPr algn="l"/>
            <a:r>
              <a:rPr sz="1400" b="1">
                <a:solidFill>
                  <a:srgbClr val="F68B23"/>
                </a:solidFill>
                <a:latin typeface="Aptos"/>
              </a:rPr>
              <a:t>Support</a:t>
            </a:r>
          </a:p>
        </p:txBody>
      </p:sp>
      <p:sp>
        <p:nvSpPr>
          <p:cNvPr id="15" name="TextBox 14"/>
          <p:cNvSpPr txBox="1"/>
          <p:nvPr/>
        </p:nvSpPr>
        <p:spPr>
          <a:xfrm>
            <a:off x="809244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Requires respect, sensitivity, consistency and understanding of beneficiary needs.</a:t>
            </a:r>
          </a:p>
        </p:txBody>
      </p:sp>
      <p:sp>
        <p:nvSpPr>
          <p:cNvPr id="16" name="TextBox 15"/>
          <p:cNvSpPr txBox="1"/>
          <p:nvPr/>
        </p:nvSpPr>
        <p:spPr>
          <a:xfrm>
            <a:off x="914400" y="5074920"/>
            <a:ext cx="6858000" cy="320040"/>
          </a:xfrm>
          <a:prstGeom prst="rect">
            <a:avLst/>
          </a:prstGeom>
          <a:noFill/>
        </p:spPr>
        <p:txBody>
          <a:bodyPr wrap="square" lIns="18288" rIns="18288" tIns="18288" bIns="18288" anchor="t">
            <a:spAutoFit/>
          </a:bodyPr>
          <a:lstStyle/>
          <a:p>
            <a:pPr algn="l"/>
            <a:r>
              <a:rPr sz="1200" b="1">
                <a:solidFill>
                  <a:srgbClr val="FFFFFF"/>
                </a:solidFill>
                <a:latin typeface="Aptos"/>
              </a:rPr>
              <a:t>Education and social support can contribute to long-term empowerment.</a:t>
            </a:r>
          </a:p>
        </p:txBody>
      </p:sp>
      <p:sp>
        <p:nvSpPr>
          <p:cNvPr id="17" name="TextBox 16"/>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Skills &amp; Competencies Developed</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25880"/>
            <a:ext cx="64008" cy="9144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90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Communication</a:t>
            </a:r>
          </a:p>
        </p:txBody>
      </p:sp>
      <p:sp>
        <p:nvSpPr>
          <p:cNvPr id="7" name="TextBox 6"/>
          <p:cNvSpPr txBox="1"/>
          <p:nvPr/>
        </p:nvSpPr>
        <p:spPr>
          <a:xfrm>
            <a:off x="2807208" y="1472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Clear, polite and appropriate interaction</a:t>
            </a:r>
          </a:p>
        </p:txBody>
      </p:sp>
      <p:sp>
        <p:nvSpPr>
          <p:cNvPr id="8" name="Rounded Rectangle 7"/>
          <p:cNvSpPr/>
          <p:nvPr/>
        </p:nvSpPr>
        <p:spPr>
          <a:xfrm>
            <a:off x="6217920" y="1325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325880"/>
            <a:ext cx="64008" cy="9144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490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Teamwork</a:t>
            </a:r>
          </a:p>
        </p:txBody>
      </p:sp>
      <p:sp>
        <p:nvSpPr>
          <p:cNvPr id="11" name="TextBox 10"/>
          <p:cNvSpPr txBox="1"/>
          <p:nvPr/>
        </p:nvSpPr>
        <p:spPr>
          <a:xfrm>
            <a:off x="8458200" y="1472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Coordination and shared responsibility</a:t>
            </a:r>
          </a:p>
        </p:txBody>
      </p:sp>
      <p:sp>
        <p:nvSpPr>
          <p:cNvPr id="12" name="Rounded Rectangle 11"/>
          <p:cNvSpPr/>
          <p:nvPr/>
        </p:nvSpPr>
        <p:spPr>
          <a:xfrm>
            <a:off x="566928" y="2468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2468880"/>
            <a:ext cx="64008" cy="9144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33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Responsibility</a:t>
            </a:r>
          </a:p>
        </p:txBody>
      </p:sp>
      <p:sp>
        <p:nvSpPr>
          <p:cNvPr id="15" name="TextBox 14"/>
          <p:cNvSpPr txBox="1"/>
          <p:nvPr/>
        </p:nvSpPr>
        <p:spPr>
          <a:xfrm>
            <a:off x="2807208" y="2615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Commitment, punctuality and accountability</a:t>
            </a:r>
          </a:p>
        </p:txBody>
      </p:sp>
      <p:sp>
        <p:nvSpPr>
          <p:cNvPr id="16" name="Rounded Rectangle 15"/>
          <p:cNvSpPr/>
          <p:nvPr/>
        </p:nvSpPr>
        <p:spPr>
          <a:xfrm>
            <a:off x="6217920" y="2468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2468880"/>
            <a:ext cx="64008" cy="9144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633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Empathy</a:t>
            </a:r>
          </a:p>
        </p:txBody>
      </p:sp>
      <p:sp>
        <p:nvSpPr>
          <p:cNvPr id="19" name="TextBox 18"/>
          <p:cNvSpPr txBox="1"/>
          <p:nvPr/>
        </p:nvSpPr>
        <p:spPr>
          <a:xfrm>
            <a:off x="8458200" y="2615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Respect and sensitivity toward beneficiaries</a:t>
            </a:r>
          </a:p>
        </p:txBody>
      </p:sp>
      <p:sp>
        <p:nvSpPr>
          <p:cNvPr id="20" name="Rounded Rectangle 19"/>
          <p:cNvSpPr/>
          <p:nvPr/>
        </p:nvSpPr>
        <p:spPr>
          <a:xfrm>
            <a:off x="566928" y="3611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6928" y="3611880"/>
            <a:ext cx="64008" cy="9144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76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Adaptability</a:t>
            </a:r>
          </a:p>
        </p:txBody>
      </p:sp>
      <p:sp>
        <p:nvSpPr>
          <p:cNvPr id="23" name="TextBox 22"/>
          <p:cNvSpPr txBox="1"/>
          <p:nvPr/>
        </p:nvSpPr>
        <p:spPr>
          <a:xfrm>
            <a:off x="2807208" y="3758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Adjusting to different activities and needs</a:t>
            </a:r>
          </a:p>
        </p:txBody>
      </p:sp>
      <p:sp>
        <p:nvSpPr>
          <p:cNvPr id="24" name="Rounded Rectangle 23"/>
          <p:cNvSpPr/>
          <p:nvPr/>
        </p:nvSpPr>
        <p:spPr>
          <a:xfrm>
            <a:off x="6217920" y="3611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17920" y="3611880"/>
            <a:ext cx="64008" cy="9144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776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Leadership Awareness</a:t>
            </a:r>
          </a:p>
        </p:txBody>
      </p:sp>
      <p:sp>
        <p:nvSpPr>
          <p:cNvPr id="27" name="TextBox 26"/>
          <p:cNvSpPr txBox="1"/>
          <p:nvPr/>
        </p:nvSpPr>
        <p:spPr>
          <a:xfrm>
            <a:off x="8458200" y="3758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Planning, coordination and ownership</a:t>
            </a:r>
          </a:p>
        </p:txBody>
      </p:sp>
      <p:sp>
        <p:nvSpPr>
          <p:cNvPr id="28" name="Rounded Rectangle 27"/>
          <p:cNvSpPr/>
          <p:nvPr/>
        </p:nvSpPr>
        <p:spPr>
          <a:xfrm>
            <a:off x="566928" y="4754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66928" y="4754880"/>
            <a:ext cx="64008" cy="9144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919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Social Awareness</a:t>
            </a:r>
          </a:p>
        </p:txBody>
      </p:sp>
      <p:sp>
        <p:nvSpPr>
          <p:cNvPr id="31" name="TextBox 30"/>
          <p:cNvSpPr txBox="1"/>
          <p:nvPr/>
        </p:nvSpPr>
        <p:spPr>
          <a:xfrm>
            <a:off x="2807208" y="4901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Understanding the role of individuals in welfare</a:t>
            </a:r>
          </a:p>
        </p:txBody>
      </p:sp>
      <p:sp>
        <p:nvSpPr>
          <p:cNvPr id="32" name="TextBox 31"/>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Challenges, Learning &amp; Outcomes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71600"/>
            <a:ext cx="534924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71600"/>
            <a:ext cx="45720" cy="18288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27632"/>
            <a:ext cx="4846320" cy="292608"/>
          </a:xfrm>
          <a:prstGeom prst="rect">
            <a:avLst/>
          </a:prstGeom>
          <a:noFill/>
        </p:spPr>
        <p:txBody>
          <a:bodyPr wrap="square" lIns="18288" rIns="18288" tIns="18288" bIns="18288" anchor="t">
            <a:spAutoFit/>
          </a:bodyPr>
          <a:lstStyle/>
          <a:p>
            <a:pPr algn="l"/>
            <a:r>
              <a:rPr sz="1450" b="1">
                <a:solidFill>
                  <a:srgbClr val="141F38"/>
                </a:solidFill>
                <a:latin typeface="Aptos"/>
              </a:rPr>
              <a:t>Challenges Encountered</a:t>
            </a:r>
          </a:p>
        </p:txBody>
      </p:sp>
      <p:sp>
        <p:nvSpPr>
          <p:cNvPr id="7" name="TextBox 6"/>
          <p:cNvSpPr txBox="1"/>
          <p:nvPr/>
        </p:nvSpPr>
        <p:spPr>
          <a:xfrm>
            <a:off x="822960" y="2084832"/>
            <a:ext cx="4846320" cy="987552"/>
          </a:xfrm>
          <a:prstGeom prst="rect">
            <a:avLst/>
          </a:prstGeom>
          <a:noFill/>
        </p:spPr>
        <p:txBody>
          <a:bodyPr wrap="square" lIns="18288" rIns="18288" tIns="18288" bIns="18288" anchor="t">
            <a:spAutoFit/>
          </a:bodyPr>
          <a:lstStyle/>
          <a:p>
            <a:pPr algn="l"/>
            <a:r>
              <a:rPr sz="1200" b="0">
                <a:solidFill>
                  <a:srgbClr val="485770"/>
                </a:solidFill>
                <a:latin typeface="Aptos"/>
              </a:rPr>
              <a:t>Different needs, expectations and communication styles require patience and respectful interaction. Welfare work also depends on volunteers being dependable and flexible.</a:t>
            </a:r>
          </a:p>
        </p:txBody>
      </p:sp>
      <p:sp>
        <p:nvSpPr>
          <p:cNvPr id="8" name="Rounded Rectangle 7"/>
          <p:cNvSpPr/>
          <p:nvPr/>
        </p:nvSpPr>
        <p:spPr>
          <a:xfrm>
            <a:off x="6263640" y="1371600"/>
            <a:ext cx="534924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371600"/>
            <a:ext cx="45720" cy="18288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27632"/>
            <a:ext cx="4846320" cy="292608"/>
          </a:xfrm>
          <a:prstGeom prst="rect">
            <a:avLst/>
          </a:prstGeom>
          <a:noFill/>
        </p:spPr>
        <p:txBody>
          <a:bodyPr wrap="square" lIns="18288" rIns="18288" tIns="18288" bIns="18288" anchor="t">
            <a:spAutoFit/>
          </a:bodyPr>
          <a:lstStyle/>
          <a:p>
            <a:pPr algn="l"/>
            <a:r>
              <a:rPr sz="1450" b="1">
                <a:solidFill>
                  <a:srgbClr val="141F38"/>
                </a:solidFill>
                <a:latin typeface="Aptos"/>
              </a:rPr>
              <a:t>Learning from Challenges</a:t>
            </a:r>
          </a:p>
        </p:txBody>
      </p:sp>
      <p:sp>
        <p:nvSpPr>
          <p:cNvPr id="11" name="TextBox 10"/>
          <p:cNvSpPr txBox="1"/>
          <p:nvPr/>
        </p:nvSpPr>
        <p:spPr>
          <a:xfrm>
            <a:off x="6519672" y="2084832"/>
            <a:ext cx="4846320" cy="987552"/>
          </a:xfrm>
          <a:prstGeom prst="rect">
            <a:avLst/>
          </a:prstGeom>
          <a:noFill/>
        </p:spPr>
        <p:txBody>
          <a:bodyPr wrap="square" lIns="18288" rIns="18288" tIns="18288" bIns="18288" anchor="t">
            <a:spAutoFit/>
          </a:bodyPr>
          <a:lstStyle/>
          <a:p>
            <a:pPr algn="l"/>
            <a:r>
              <a:rPr sz="1200" b="0">
                <a:solidFill>
                  <a:srgbClr val="485770"/>
                </a:solidFill>
                <a:latin typeface="Aptos"/>
              </a:rPr>
              <a:t>Consistency, cooperation and readiness to assist with different kinds of work encourage a flexible and responsible approach.</a:t>
            </a:r>
          </a:p>
        </p:txBody>
      </p:sp>
      <p:sp>
        <p:nvSpPr>
          <p:cNvPr id="12" name="Rounded Rectangle 11"/>
          <p:cNvSpPr/>
          <p:nvPr/>
        </p:nvSpPr>
        <p:spPr>
          <a:xfrm>
            <a:off x="566928" y="3611880"/>
            <a:ext cx="11045952"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611880"/>
            <a:ext cx="45720" cy="18288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67912"/>
            <a:ext cx="10543032" cy="292608"/>
          </a:xfrm>
          <a:prstGeom prst="rect">
            <a:avLst/>
          </a:prstGeom>
          <a:noFill/>
        </p:spPr>
        <p:txBody>
          <a:bodyPr wrap="square" lIns="18288" rIns="18288" tIns="18288" bIns="18288" anchor="t">
            <a:spAutoFit/>
          </a:bodyPr>
          <a:lstStyle/>
          <a:p>
            <a:pPr algn="l"/>
            <a:r>
              <a:rPr sz="1450" b="1">
                <a:solidFill>
                  <a:srgbClr val="141F38"/>
                </a:solidFill>
                <a:latin typeface="Aptos"/>
              </a:rPr>
              <a:t>Recognized Outcomes</a:t>
            </a:r>
          </a:p>
        </p:txBody>
      </p:sp>
      <p:sp>
        <p:nvSpPr>
          <p:cNvPr id="15" name="TextBox 14"/>
          <p:cNvSpPr txBox="1"/>
          <p:nvPr/>
        </p:nvSpPr>
        <p:spPr>
          <a:xfrm>
            <a:off x="822960" y="4325112"/>
            <a:ext cx="10543032" cy="987552"/>
          </a:xfrm>
          <a:prstGeom prst="rect">
            <a:avLst/>
          </a:prstGeom>
          <a:noFill/>
        </p:spPr>
        <p:txBody>
          <a:bodyPr wrap="square" lIns="18288" rIns="18288" tIns="18288" bIns="18288" anchor="t">
            <a:spAutoFit/>
          </a:bodyPr>
          <a:lstStyle/>
          <a:p>
            <a:pPr algn="l"/>
            <a:r>
              <a:rPr sz="1200" b="0">
                <a:solidFill>
                  <a:srgbClr val="485770"/>
                </a:solidFill>
                <a:latin typeface="Aptos"/>
              </a:rPr>
              <a:t>The certificate notes that dedication, sense of responsibility and willingness to help were appreciated by the team and beneficiaries. The engagement strengthened social responsibility, awareness of education and empowerment, and cooperative working skills.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Reflection &amp; Recommendations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349240" cy="443484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25880"/>
            <a:ext cx="45720" cy="443484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8191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Personal Reflection</a:t>
            </a:r>
          </a:p>
        </p:txBody>
      </p:sp>
      <p:sp>
        <p:nvSpPr>
          <p:cNvPr id="7" name="TextBox 6"/>
          <p:cNvSpPr txBox="1"/>
          <p:nvPr/>
        </p:nvSpPr>
        <p:spPr>
          <a:xfrm>
            <a:off x="822960" y="2039112"/>
            <a:ext cx="4846320" cy="3593591"/>
          </a:xfrm>
          <a:prstGeom prst="rect">
            <a:avLst/>
          </a:prstGeom>
          <a:noFill/>
        </p:spPr>
        <p:txBody>
          <a:bodyPr wrap="square" lIns="18288" rIns="18288" tIns="18288" bIns="18288" anchor="t">
            <a:spAutoFit/>
          </a:bodyPr>
          <a:lstStyle/>
          <a:p>
            <a:pPr algn="l"/>
            <a:r>
              <a:rPr sz="1150" b="0">
                <a:solidFill>
                  <a:srgbClr val="485770"/>
                </a:solidFill>
                <a:latin typeface="Aptos"/>
              </a:rPr>
              <a:t>Professional development is not limited to technical knowledge. Social-welfare work requires responsibility, patience, communication and respectful interaction.</a:t>
            </a:r>
            <a:br/>
            <a:br/>
            <a:r>
              <a:t>Volunteering is a two-way learning experience: while contributing time and effort, the volunteer develops maturity, social awareness and a stronger understanding of community needs.</a:t>
            </a:r>
            <a:br/>
            <a:br/>
            <a:r>
              <a:t>The focus on education and empowerment connected everyday support with opportunity, dignity and inclusion.</a:t>
            </a:r>
          </a:p>
        </p:txBody>
      </p:sp>
      <p:sp>
        <p:nvSpPr>
          <p:cNvPr id="8" name="Rounded Rectangle 7"/>
          <p:cNvSpPr/>
          <p:nvPr/>
        </p:nvSpPr>
        <p:spPr>
          <a:xfrm>
            <a:off x="6263640" y="1325880"/>
            <a:ext cx="5349240" cy="443484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325880"/>
            <a:ext cx="45720" cy="443484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58191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Recommendations</a:t>
            </a:r>
          </a:p>
        </p:txBody>
      </p:sp>
      <p:sp>
        <p:nvSpPr>
          <p:cNvPr id="11" name="TextBox 10"/>
          <p:cNvSpPr txBox="1"/>
          <p:nvPr/>
        </p:nvSpPr>
        <p:spPr>
          <a:xfrm>
            <a:off x="6519672" y="2039112"/>
            <a:ext cx="4846320" cy="3593591"/>
          </a:xfrm>
          <a:prstGeom prst="rect">
            <a:avLst/>
          </a:prstGeom>
          <a:noFill/>
        </p:spPr>
        <p:txBody>
          <a:bodyPr wrap="square" lIns="18288" rIns="18288" tIns="18288" bIns="18288" anchor="t">
            <a:spAutoFit/>
          </a:bodyPr>
          <a:lstStyle/>
          <a:p>
            <a:pPr algn="l"/>
            <a:r>
              <a:rPr sz="1150" b="0">
                <a:solidFill>
                  <a:srgbClr val="485770"/>
                </a:solidFill>
                <a:latin typeface="Aptos"/>
              </a:rPr>
              <a:t>• Maintain clear role allocation for volunteers.</a:t>
            </a:r>
            <a:br/>
            <a:r>
              <a:t>• Provide a short orientation before activities.</a:t>
            </a:r>
            <a:br/>
            <a:r>
              <a:t>• Keep simple activity records.</a:t>
            </a:r>
            <a:br/>
            <a:r>
              <a:t>• Continue education and empowerment initiatives.</a:t>
            </a:r>
            <a:br/>
            <a:r>
              <a:t>• Encourage volunteer reflection and suggestions.</a:t>
            </a:r>
            <a:br/>
            <a:r>
              <a:t>• Use simple digital tools for scheduling, communication and documentation while protecting beneficiary privacy.</a:t>
            </a:r>
          </a:p>
        </p:txBody>
      </p:sp>
      <p:sp>
        <p:nvSpPr>
          <p:cNvPr id="12" name="TextBox 11"/>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Certificate &amp; Official Record</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960120"/>
            <a:ext cx="10881360" cy="320040"/>
          </a:xfrm>
          <a:prstGeom prst="rect">
            <a:avLst/>
          </a:prstGeom>
          <a:noFill/>
        </p:spPr>
        <p:txBody>
          <a:bodyPr wrap="square" lIns="18288" rIns="18288" tIns="18288" bIns="18288" anchor="t">
            <a:spAutoFit/>
          </a:bodyPr>
          <a:lstStyle/>
          <a:p>
            <a:pPr algn="l"/>
            <a:r>
              <a:rPr sz="1050" b="0">
                <a:solidFill>
                  <a:srgbClr val="485770"/>
                </a:solidFill>
                <a:latin typeface="Aptos"/>
              </a:rPr>
              <a:t>Certificate supplied as the primary reference for this presentation</a:t>
            </a:r>
          </a:p>
        </p:txBody>
      </p:sp>
      <p:pic>
        <p:nvPicPr>
          <p:cNvPr id="5" name="Picture 4" descr="image2.png"/>
          <p:cNvPicPr>
            <a:picLocks noChangeAspect="1"/>
          </p:cNvPicPr>
          <p:nvPr/>
        </p:nvPicPr>
        <p:blipFill>
          <a:blip r:embed="rId2"/>
          <a:stretch>
            <a:fillRect/>
          </a:stretch>
        </p:blipFill>
        <p:spPr>
          <a:xfrm>
            <a:off x="1874519" y="1234440"/>
            <a:ext cx="8458200" cy="5257800"/>
          </a:xfrm>
          <a:prstGeom prst="rect">
            <a:avLst/>
          </a:prstGeom>
        </p:spPr>
      </p:pic>
      <p:sp>
        <p:nvSpPr>
          <p:cNvPr id="6" name="TextBox 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594360" y="475488"/>
            <a:ext cx="658368" cy="701814"/>
          </a:xfrm>
          <a:prstGeom prst="rect">
            <a:avLst/>
          </a:prstGeom>
        </p:spPr>
      </p:pic>
      <p:sp>
        <p:nvSpPr>
          <p:cNvPr id="4" name="TextBox 3"/>
          <p:cNvSpPr txBox="1"/>
          <p:nvPr/>
        </p:nvSpPr>
        <p:spPr>
          <a:xfrm>
            <a:off x="1389888" y="530352"/>
            <a:ext cx="2926080" cy="256032"/>
          </a:xfrm>
          <a:prstGeom prst="rect">
            <a:avLst/>
          </a:prstGeom>
          <a:noFill/>
        </p:spPr>
        <p:txBody>
          <a:bodyPr wrap="square" lIns="18288" rIns="18288" tIns="18288" bIns="18288" anchor="t">
            <a:spAutoFit/>
          </a:bodyPr>
          <a:lstStyle/>
          <a:p>
            <a:pPr algn="l"/>
            <a:r>
              <a:rPr sz="1300" b="1">
                <a:solidFill>
                  <a:srgbClr val="FFFFFF"/>
                </a:solidFill>
                <a:latin typeface="Aptos"/>
              </a:rPr>
              <a:t>IILM UNIVERSITY</a:t>
            </a:r>
          </a:p>
        </p:txBody>
      </p:sp>
      <p:sp>
        <p:nvSpPr>
          <p:cNvPr id="5" name="TextBox 4"/>
          <p:cNvSpPr txBox="1"/>
          <p:nvPr/>
        </p:nvSpPr>
        <p:spPr>
          <a:xfrm>
            <a:off x="1389888" y="786384"/>
            <a:ext cx="2926080" cy="201168"/>
          </a:xfrm>
          <a:prstGeom prst="rect">
            <a:avLst/>
          </a:prstGeom>
          <a:noFill/>
        </p:spPr>
        <p:txBody>
          <a:bodyPr wrap="square" lIns="18288" rIns="18288" tIns="18288" bIns="18288" anchor="t">
            <a:spAutoFit/>
          </a:bodyPr>
          <a:lstStyle/>
          <a:p>
            <a:pPr algn="l"/>
            <a:r>
              <a:rPr sz="800" b="0">
                <a:solidFill>
                  <a:srgbClr val="BECCE4"/>
                </a:solidFill>
                <a:latin typeface="Aptos"/>
              </a:rPr>
              <a:t>GREATER NOIDA, UTTAR PRADESH</a:t>
            </a:r>
          </a:p>
        </p:txBody>
      </p:sp>
      <p:sp>
        <p:nvSpPr>
          <p:cNvPr id="6" name="TextBox 5"/>
          <p:cNvSpPr txBox="1"/>
          <p:nvPr/>
        </p:nvSpPr>
        <p:spPr>
          <a:xfrm>
            <a:off x="640080" y="1965960"/>
            <a:ext cx="5212080" cy="594360"/>
          </a:xfrm>
          <a:prstGeom prst="rect">
            <a:avLst/>
          </a:prstGeom>
          <a:noFill/>
        </p:spPr>
        <p:txBody>
          <a:bodyPr wrap="square" lIns="18288" rIns="18288" tIns="18288" bIns="18288" anchor="t">
            <a:spAutoFit/>
          </a:bodyPr>
          <a:lstStyle/>
          <a:p>
            <a:pPr algn="l"/>
            <a:r>
              <a:rPr sz="3400" b="1">
                <a:solidFill>
                  <a:srgbClr val="FFFFFF"/>
                </a:solidFill>
                <a:latin typeface="Aptos"/>
              </a:rPr>
              <a:t>Thank You!</a:t>
            </a:r>
          </a:p>
        </p:txBody>
      </p:sp>
      <p:sp>
        <p:nvSpPr>
          <p:cNvPr id="7" name="TextBox 6"/>
          <p:cNvSpPr txBox="1"/>
          <p:nvPr/>
        </p:nvSpPr>
        <p:spPr>
          <a:xfrm>
            <a:off x="658368" y="2697480"/>
            <a:ext cx="5577840" cy="347472"/>
          </a:xfrm>
          <a:prstGeom prst="rect">
            <a:avLst/>
          </a:prstGeom>
          <a:noFill/>
        </p:spPr>
        <p:txBody>
          <a:bodyPr wrap="square" lIns="18288" rIns="18288" tIns="18288" bIns="18288" anchor="t">
            <a:spAutoFit/>
          </a:bodyPr>
          <a:lstStyle/>
          <a:p>
            <a:pPr algn="l"/>
            <a:r>
              <a:rPr sz="1500" b="0">
                <a:solidFill>
                  <a:srgbClr val="5EAAEE"/>
                </a:solidFill>
                <a:latin typeface="Aptos"/>
              </a:rPr>
              <a:t>Social Welfare &amp; Community Support Engagement</a:t>
            </a:r>
          </a:p>
        </p:txBody>
      </p:sp>
      <p:sp>
        <p:nvSpPr>
          <p:cNvPr id="8" name="Rounded Rectangle 7"/>
          <p:cNvSpPr/>
          <p:nvPr/>
        </p:nvSpPr>
        <p:spPr>
          <a:xfrm>
            <a:off x="658368" y="3977639"/>
            <a:ext cx="4937760" cy="1143000"/>
          </a:xfrm>
          <a:prstGeom prst="roundRect">
            <a:avLst>
              <a:gd name="adj" fmla="val 8000"/>
            </a:avLst>
          </a:prstGeom>
          <a:solidFill>
            <a:srgbClr val="2231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24528"/>
            <a:ext cx="4206240" cy="320040"/>
          </a:xfrm>
          <a:prstGeom prst="rect">
            <a:avLst/>
          </a:prstGeom>
          <a:noFill/>
        </p:spPr>
        <p:txBody>
          <a:bodyPr wrap="square" lIns="18288" rIns="18288" tIns="18288" bIns="18288" anchor="t">
            <a:spAutoFit/>
          </a:bodyPr>
          <a:lstStyle/>
          <a:p>
            <a:pPr algn="l"/>
            <a:r>
              <a:rPr sz="1900" b="1">
                <a:solidFill>
                  <a:srgbClr val="FFFFFF"/>
                </a:solidFill>
                <a:latin typeface="Aptos"/>
              </a:rPr>
              <a:t>Mohd Huzaifa Usmani</a:t>
            </a:r>
          </a:p>
        </p:txBody>
      </p:sp>
      <p:sp>
        <p:nvSpPr>
          <p:cNvPr id="10" name="TextBox 9"/>
          <p:cNvSpPr txBox="1"/>
          <p:nvPr/>
        </p:nvSpPr>
        <p:spPr>
          <a:xfrm>
            <a:off x="914400" y="4617720"/>
            <a:ext cx="3017520" cy="228600"/>
          </a:xfrm>
          <a:prstGeom prst="rect">
            <a:avLst/>
          </a:prstGeom>
          <a:noFill/>
        </p:spPr>
        <p:txBody>
          <a:bodyPr wrap="square" lIns="18288" rIns="18288" tIns="18288" bIns="18288" anchor="t">
            <a:spAutoFit/>
          </a:bodyPr>
          <a:lstStyle/>
          <a:p>
            <a:pPr algn="l"/>
            <a:r>
              <a:rPr sz="1000" b="0">
                <a:solidFill>
                  <a:srgbClr val="CDD8EC"/>
                </a:solidFill>
                <a:latin typeface="Aptos"/>
              </a:rPr>
              <a:t>Roll No: 25SCS1003003703</a:t>
            </a:r>
          </a:p>
        </p:txBody>
      </p:sp>
      <p:sp>
        <p:nvSpPr>
          <p:cNvPr id="11" name="Rounded Rectangle 10"/>
          <p:cNvSpPr/>
          <p:nvPr/>
        </p:nvSpPr>
        <p:spPr>
          <a:xfrm>
            <a:off x="7315200" y="3977639"/>
            <a:ext cx="3977639" cy="11430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8" y="4279392"/>
            <a:ext cx="3337560" cy="274320"/>
          </a:xfrm>
          <a:prstGeom prst="rect">
            <a:avLst/>
          </a:prstGeom>
          <a:noFill/>
        </p:spPr>
        <p:txBody>
          <a:bodyPr wrap="square" lIns="18288" rIns="18288" tIns="18288" bIns="18288" anchor="t">
            <a:spAutoFit/>
          </a:bodyPr>
          <a:lstStyle/>
          <a:p>
            <a:pPr algn="l"/>
            <a:r>
              <a:rPr sz="1400" b="1">
                <a:solidFill>
                  <a:srgbClr val="FFFFFF"/>
                </a:solidFill>
                <a:latin typeface="Aptos"/>
              </a:rPr>
              <a:t>Jyoti Sarp Kanya Asra Society</a:t>
            </a:r>
          </a:p>
        </p:txBody>
      </p:sp>
      <p:sp>
        <p:nvSpPr>
          <p:cNvPr id="13" name="TextBox 12"/>
          <p:cNvSpPr txBox="1"/>
          <p:nvPr/>
        </p:nvSpPr>
        <p:spPr>
          <a:xfrm>
            <a:off x="7607808" y="4645152"/>
            <a:ext cx="2926080" cy="228600"/>
          </a:xfrm>
          <a:prstGeom prst="rect">
            <a:avLst/>
          </a:prstGeom>
          <a:noFill/>
        </p:spPr>
        <p:txBody>
          <a:bodyPr wrap="square" lIns="18288" rIns="18288" tIns="18288" bIns="18288" anchor="t">
            <a:spAutoFit/>
          </a:bodyPr>
          <a:lstStyle/>
          <a:p>
            <a:pPr algn="l"/>
            <a:r>
              <a:rPr sz="1000" b="0">
                <a:solidFill>
                  <a:srgbClr val="FFFFFF"/>
                </a:solidFill>
                <a:latin typeface="Aptos"/>
              </a:rPr>
              <a:t>01 July 2026 – 30 July 2026</a:t>
            </a:r>
          </a:p>
        </p:txBody>
      </p:sp>
      <p:sp>
        <p:nvSpPr>
          <p:cNvPr id="14" name="TextBox 1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